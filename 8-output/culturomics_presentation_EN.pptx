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2" d="100"/>
          <a:sy n="112" d="100"/>
        </p:scale>
        <p:origin x="48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E2761"/>
                </a:solidFill>
                <a:latin typeface="Arial"/>
              </a:defRPr>
            </a:pPr>
            <a:r>
              <a:rPr lang="en-US" sz="1200" b="0" i="0" u="none" strike="noStrike">
                <a:solidFill>
                  <a:srgbClr val="1E2761"/>
                </a:solidFill>
                <a:latin typeface="Arial"/>
              </a:rPr>
              <a:t>Edits in the window after peak</a:t>
            </a:r>
          </a:p>
        </c:rich>
      </c:tx>
      <c:overlay val="0"/>
    </c:title>
    <c:autoTitleDeleted val="0"/>
    <c:plotArea>
      <c:layout/>
      <c:barChart>
        <c:barDir val="col"/>
        <c:grouping val="clustered"/>
        <c:varyColors val="0"/>
        <c:ser>
          <c:idx val="0"/>
          <c:order val="0"/>
          <c:tx>
            <c:strRef>
              <c:f>Sheet1!$B$1</c:f>
              <c:strCache>
                <c:ptCount val="1"/>
                <c:pt idx="0">
                  <c:v>Edits</c:v>
                </c:pt>
              </c:strCache>
            </c:strRef>
          </c:tx>
          <c:spPr>
            <a:solidFill>
              <a:srgbClr val="D64550"/>
            </a:solidFill>
            <a:effectLst/>
          </c:spPr>
          <c:invertIfNegative val="0"/>
          <c:dPt>
            <c:idx val="0"/>
            <c:invertIfNegative val="0"/>
            <c:bubble3D val="0"/>
            <c:extLst>
              <c:ext xmlns:c16="http://schemas.microsoft.com/office/drawing/2014/chart" uri="{C3380CC4-5D6E-409C-BE32-E72D297353CC}">
                <c16:uniqueId val="{00000001-CA6A-E54F-820B-B38CAE91A7B9}"/>
              </c:ext>
            </c:extLst>
          </c:dPt>
          <c:dPt>
            <c:idx val="1"/>
            <c:invertIfNegative val="0"/>
            <c:bubble3D val="0"/>
            <c:spPr>
              <a:solidFill>
                <a:srgbClr val="F2A65A"/>
              </a:solidFill>
              <a:effectLst/>
            </c:spPr>
            <c:extLst>
              <c:ext xmlns:c16="http://schemas.microsoft.com/office/drawing/2014/chart" uri="{C3380CC4-5D6E-409C-BE32-E72D297353CC}">
                <c16:uniqueId val="{00000003-CA6A-E54F-820B-B38CAE91A7B9}"/>
              </c:ext>
            </c:extLst>
          </c:dPt>
          <c:dLbls>
            <c:numFmt formatCode="#,##0" sourceLinked="0"/>
            <c:spPr>
              <a:noFill/>
              <a:ln>
                <a:noFill/>
              </a:ln>
              <a:effectLst/>
            </c:spPr>
            <c:txPr>
              <a:bodyPr/>
              <a:lstStyle/>
              <a:p>
                <a:pPr>
                  <a:defRPr sz="11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2009</c:v>
                </c:pt>
                <c:pt idx="1">
                  <c:v>2026</c:v>
                </c:pt>
              </c:strCache>
            </c:strRef>
          </c:cat>
          <c:val>
            <c:numRef>
              <c:f>Sheet1!$B$2:$B$3</c:f>
              <c:numCache>
                <c:formatCode>General</c:formatCode>
                <c:ptCount val="2"/>
                <c:pt idx="0">
                  <c:v>2560</c:v>
                </c:pt>
                <c:pt idx="1">
                  <c:v>90</c:v>
                </c:pt>
              </c:numCache>
            </c:numRef>
          </c:val>
          <c:extLst>
            <c:ext xmlns:c16="http://schemas.microsoft.com/office/drawing/2014/chart" uri="{C3380CC4-5D6E-409C-BE32-E72D297353CC}">
              <c16:uniqueId val="{00000004-CA6A-E54F-820B-B38CAE91A7B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55555"/>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EEE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55555"/>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33343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B47"/>
        </a:solidFill>
        <a:effectLst/>
      </p:bgPr>
    </p:bg>
    <p:spTree>
      <p:nvGrpSpPr>
        <p:cNvPr id="1" name=""/>
        <p:cNvGrpSpPr/>
        <p:nvPr/>
      </p:nvGrpSpPr>
      <p:grpSpPr>
        <a:xfrm>
          <a:off x="0" y="0"/>
          <a:ext cx="0" cy="0"/>
          <a:chOff x="0" y="0"/>
          <a:chExt cx="0" cy="0"/>
        </a:xfrm>
      </p:grpSpPr>
      <p:sp>
        <p:nvSpPr>
          <p:cNvPr id="2" name="Text 0"/>
          <p:cNvSpPr txBox="1"/>
          <p:nvPr/>
        </p:nvSpPr>
        <p:spPr>
          <a:xfrm>
            <a:off x="731520" y="2011680"/>
            <a:ext cx="10698480" cy="1097280"/>
          </a:xfrm>
          <a:prstGeom prst="rect">
            <a:avLst/>
          </a:prstGeom>
          <a:noFill/>
          <a:ln/>
        </p:spPr>
        <p:txBody>
          <a:bodyPr wrap="square" rtlCol="0" anchor="ctr"/>
          <a:lstStyle/>
          <a:p>
            <a:r>
              <a:rPr lang="en-US" sz="4400" b="1" dirty="0" err="1">
                <a:solidFill>
                  <a:schemeClr val="bg1"/>
                </a:solidFill>
                <a:latin typeface="Cambria" panose="02040503050406030204" pitchFamily="18" charset="0"/>
              </a:rPr>
              <a:t>Culturomics</a:t>
            </a:r>
            <a:r>
              <a:rPr lang="en-US" sz="4400" b="1" dirty="0">
                <a:solidFill>
                  <a:schemeClr val="bg1"/>
                </a:solidFill>
                <a:latin typeface="Cambria" panose="02040503050406030204" pitchFamily="18" charset="0"/>
              </a:rPr>
              <a:t> Phenomenon</a:t>
            </a:r>
            <a:endParaRPr lang="en-US" sz="4400" dirty="0">
              <a:solidFill>
                <a:schemeClr val="bg1"/>
              </a:solidFill>
              <a:latin typeface="Cambria" panose="02040503050406030204" pitchFamily="18" charset="0"/>
            </a:endParaRPr>
          </a:p>
        </p:txBody>
      </p:sp>
      <p:sp>
        <p:nvSpPr>
          <p:cNvPr id="3" name="Text 1"/>
          <p:cNvSpPr txBox="1"/>
          <p:nvPr/>
        </p:nvSpPr>
        <p:spPr>
          <a:xfrm>
            <a:off x="731520" y="3017520"/>
            <a:ext cx="10698480" cy="640080"/>
          </a:xfrm>
          <a:prstGeom prst="rect">
            <a:avLst/>
          </a:prstGeom>
          <a:noFill/>
          <a:ln/>
        </p:spPr>
        <p:txBody>
          <a:bodyPr wrap="square" rtlCol="0" anchor="ctr"/>
          <a:lstStyle/>
          <a:p>
            <a:pPr marL="0" indent="0">
              <a:buNone/>
            </a:pPr>
            <a:r>
              <a:rPr lang="en-US" sz="2000" dirty="0">
                <a:solidFill>
                  <a:srgbClr val="CADCFC"/>
                </a:solidFill>
                <a:latin typeface="Calibri" pitchFamily="34" charset="0"/>
                <a:ea typeface="Calibri" pitchFamily="34" charset="-122"/>
                <a:cs typeface="Calibri" pitchFamily="34" charset="-120"/>
              </a:rPr>
              <a:t>Through the Wikipedia article on Michael Jackson</a:t>
            </a:r>
            <a:endParaRPr lang="en-US" sz="2000" dirty="0"/>
          </a:p>
        </p:txBody>
      </p:sp>
      <p:sp>
        <p:nvSpPr>
          <p:cNvPr id="4" name="Text 2"/>
          <p:cNvSpPr txBox="1"/>
          <p:nvPr/>
        </p:nvSpPr>
        <p:spPr>
          <a:xfrm>
            <a:off x="731520" y="3749040"/>
            <a:ext cx="10698480" cy="457200"/>
          </a:xfrm>
          <a:prstGeom prst="rect">
            <a:avLst/>
          </a:prstGeom>
          <a:noFill/>
          <a:ln/>
        </p:spPr>
        <p:txBody>
          <a:bodyPr wrap="square" rtlCol="0" anchor="ctr"/>
          <a:lstStyle/>
          <a:p>
            <a:r>
              <a:rPr lang="en-US" sz="1400" i="1" dirty="0">
                <a:solidFill>
                  <a:srgbClr val="8FA3D9"/>
                </a:solidFill>
                <a:latin typeface="Calibri" pitchFamily="34" charset="0"/>
                <a:ea typeface="Calibri" pitchFamily="34" charset="-122"/>
                <a:cs typeface="Calibri" pitchFamily="34" charset="-120"/>
              </a:rPr>
              <a:t>A 2009-2026 case study, building on J.B. Michel</a:t>
            </a:r>
            <a:r>
              <a:rPr lang="en-US" b="1" dirty="0"/>
              <a:t> </a:t>
            </a:r>
            <a:r>
              <a:rPr lang="en-US" sz="1400" i="1" dirty="0">
                <a:solidFill>
                  <a:srgbClr val="8FA3D9"/>
                </a:solidFill>
                <a:latin typeface="Calibri" pitchFamily="34" charset="0"/>
                <a:ea typeface="Calibri" pitchFamily="34" charset="-122"/>
                <a:cs typeface="Calibri" pitchFamily="34" charset="-120"/>
              </a:rPr>
              <a:t>(2011)</a:t>
            </a:r>
            <a:endParaRPr lang="en-US" sz="1400" dirty="0"/>
          </a:p>
        </p:txBody>
      </p:sp>
      <p:sp>
        <p:nvSpPr>
          <p:cNvPr id="5" name="Shape 3"/>
          <p:cNvSpPr/>
          <p:nvPr/>
        </p:nvSpPr>
        <p:spPr>
          <a:xfrm>
            <a:off x="731520" y="4846320"/>
            <a:ext cx="1463040" cy="54864"/>
          </a:xfrm>
          <a:prstGeom prst="rect">
            <a:avLst/>
          </a:prstGeom>
          <a:solidFill>
            <a:srgbClr val="D64550"/>
          </a:solidFill>
          <a:ln/>
        </p:spPr>
      </p:sp>
      <p:sp>
        <p:nvSpPr>
          <p:cNvPr id="8" name="Rectangle 7">
            <a:extLst>
              <a:ext uri="{FF2B5EF4-FFF2-40B4-BE49-F238E27FC236}">
                <a16:creationId xmlns:a16="http://schemas.microsoft.com/office/drawing/2014/main" id="{51B35609-2B36-5B41-BB1E-7A4ACF94330F}"/>
              </a:ext>
            </a:extLst>
          </p:cNvPr>
          <p:cNvSpPr/>
          <p:nvPr/>
        </p:nvSpPr>
        <p:spPr>
          <a:xfrm>
            <a:off x="9349740" y="6353294"/>
            <a:ext cx="2400300" cy="430887"/>
          </a:xfrm>
          <a:prstGeom prst="rect">
            <a:avLst/>
          </a:prstGeom>
        </p:spPr>
        <p:txBody>
          <a:bodyPr wrap="square">
            <a:spAutoFit/>
          </a:bodyPr>
          <a:lstStyle/>
          <a:p>
            <a:r>
              <a:rPr lang="en-US" sz="1100" b="1" i="1" dirty="0">
                <a:solidFill>
                  <a:schemeClr val="accent1">
                    <a:lumMod val="60000"/>
                    <a:lumOff val="40000"/>
                  </a:schemeClr>
                </a:solidFill>
                <a:latin typeface="Arial" panose="020B0604020202020204" pitchFamily="34" charset="0"/>
              </a:rPr>
              <a:t>Digital and Public Humanities </a:t>
            </a:r>
          </a:p>
          <a:p>
            <a:r>
              <a:rPr lang="en-US" sz="1100" b="1" i="1" dirty="0">
                <a:solidFill>
                  <a:schemeClr val="accent1">
                    <a:lumMod val="60000"/>
                    <a:lumOff val="40000"/>
                  </a:schemeClr>
                </a:solidFill>
                <a:latin typeface="Arial" panose="020B0604020202020204" pitchFamily="34" charset="0"/>
              </a:rPr>
              <a:t>Aim </a:t>
            </a:r>
            <a:r>
              <a:rPr lang="en-US" sz="1100" b="1" i="1" dirty="0" err="1">
                <a:solidFill>
                  <a:schemeClr val="accent1">
                    <a:lumMod val="60000"/>
                    <a:lumOff val="40000"/>
                  </a:schemeClr>
                </a:solidFill>
                <a:latin typeface="Arial" panose="020B0604020202020204" pitchFamily="34" charset="0"/>
              </a:rPr>
              <a:t>Batalova</a:t>
            </a:r>
            <a:r>
              <a:rPr lang="en-US" sz="1100" b="1" i="1" dirty="0">
                <a:solidFill>
                  <a:schemeClr val="accent1">
                    <a:lumMod val="60000"/>
                    <a:lumOff val="40000"/>
                  </a:schemeClr>
                </a:solidFill>
                <a:latin typeface="Arial" panose="020B0604020202020204" pitchFamily="34" charset="0"/>
              </a:rPr>
              <a:t>, 2026</a:t>
            </a:r>
            <a:endParaRPr lang="en-US" sz="1100" i="1" dirty="0">
              <a:solidFill>
                <a:schemeClr val="accent1">
                  <a:lumMod val="60000"/>
                  <a:lumOff val="4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365760"/>
          </a:xfrm>
          <a:prstGeom prst="rect">
            <a:avLst/>
          </a:prstGeom>
          <a:noFill/>
          <a:ln/>
        </p:spPr>
        <p:txBody>
          <a:bodyPr wrap="square" rtlCol="0" anchor="ctr"/>
          <a:lstStyle/>
          <a:p>
            <a:pPr marL="0" indent="0">
              <a:buNone/>
            </a:pPr>
            <a:r>
              <a:rPr lang="en-US" sz="1300" b="1" kern="0" spc="200" dirty="0">
                <a:solidFill>
                  <a:srgbClr val="D64550"/>
                </a:solidFill>
                <a:latin typeface="Calibri" pitchFamily="34" charset="0"/>
                <a:ea typeface="Calibri" pitchFamily="34" charset="-122"/>
                <a:cs typeface="Calibri" pitchFamily="34" charset="-120"/>
              </a:rPr>
              <a:t>INTRODUCTION</a:t>
            </a:r>
            <a:endParaRPr lang="en-US" sz="1300" dirty="0"/>
          </a:p>
        </p:txBody>
      </p:sp>
      <p:sp>
        <p:nvSpPr>
          <p:cNvPr id="3" name="Text 1"/>
          <p:cNvSpPr txBox="1"/>
          <p:nvPr/>
        </p:nvSpPr>
        <p:spPr>
          <a:xfrm>
            <a:off x="640080" y="777240"/>
            <a:ext cx="10881360" cy="82296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The Culturomics Phenomenon</a:t>
            </a:r>
            <a:endParaRPr lang="en-US" sz="3200" dirty="0"/>
          </a:p>
        </p:txBody>
      </p:sp>
      <p:sp>
        <p:nvSpPr>
          <p:cNvPr id="4" name="Text 2"/>
          <p:cNvSpPr txBox="1"/>
          <p:nvPr/>
        </p:nvSpPr>
        <p:spPr>
          <a:xfrm>
            <a:off x="640080" y="1828800"/>
            <a:ext cx="5486400" cy="2011680"/>
          </a:xfrm>
          <a:prstGeom prst="rect">
            <a:avLst/>
          </a:prstGeom>
          <a:noFill/>
          <a:ln/>
        </p:spPr>
        <p:txBody>
          <a:bodyPr wrap="square" rtlCol="0" anchor="t"/>
          <a:lstStyle/>
          <a:p>
            <a:pPr marL="0" indent="0">
              <a:buNone/>
            </a:pPr>
            <a:r>
              <a:rPr lang="en-US" sz="1600" dirty="0">
                <a:solidFill>
                  <a:srgbClr val="333333"/>
                </a:solidFill>
                <a:latin typeface="Calibri" pitchFamily="34" charset="0"/>
                <a:ea typeface="Calibri" pitchFamily="34" charset="-122"/>
                <a:cs typeface="Calibri" pitchFamily="34" charset="-120"/>
              </a:rPr>
              <a:t>J.B. Michel  (2011) showed that a society's collective attention to events leaves measurable traces in digital sources, and follows quantifiable patterns.</a:t>
            </a:r>
            <a:endParaRPr lang="en-US" sz="1600" dirty="0"/>
          </a:p>
        </p:txBody>
      </p:sp>
      <p:sp>
        <p:nvSpPr>
          <p:cNvPr id="5" name="Text 3"/>
          <p:cNvSpPr txBox="1"/>
          <p:nvPr/>
        </p:nvSpPr>
        <p:spPr>
          <a:xfrm>
            <a:off x="640080" y="4114800"/>
            <a:ext cx="5486400" cy="1280160"/>
          </a:xfrm>
          <a:prstGeom prst="rect">
            <a:avLst/>
          </a:prstGeom>
          <a:noFill/>
          <a:ln/>
        </p:spPr>
        <p:txBody>
          <a:bodyPr wrap="square" rtlCol="0" anchor="ctr"/>
          <a:lstStyle/>
          <a:p>
            <a:pPr marL="0" indent="0">
              <a:buNone/>
            </a:pPr>
            <a:r>
              <a:rPr lang="en-US" sz="1500" i="1" dirty="0">
                <a:solidFill>
                  <a:srgbClr val="1E2761"/>
                </a:solidFill>
                <a:latin typeface="Cambria" pitchFamily="34" charset="0"/>
                <a:ea typeface="Cambria" pitchFamily="34" charset="-122"/>
                <a:cs typeface="Cambria" pitchFamily="34" charset="-120"/>
              </a:rPr>
              <a:t>“...an initial response to an exogenous shock, followed by a long-term decay reflecting the process of collective forgetting”</a:t>
            </a:r>
            <a:endParaRPr lang="en-US" sz="1500" dirty="0"/>
          </a:p>
        </p:txBody>
      </p:sp>
      <p:sp>
        <p:nvSpPr>
          <p:cNvPr id="6" name="Text 4"/>
          <p:cNvSpPr txBox="1"/>
          <p:nvPr/>
        </p:nvSpPr>
        <p:spPr>
          <a:xfrm>
            <a:off x="640080" y="5349240"/>
            <a:ext cx="5486400" cy="365760"/>
          </a:xfrm>
          <a:prstGeom prst="rect">
            <a:avLst/>
          </a:prstGeom>
          <a:noFill/>
          <a:ln/>
        </p:spPr>
        <p:txBody>
          <a:bodyPr wrap="square" rtlCol="0" anchor="ctr"/>
          <a:lstStyle/>
          <a:p>
            <a:pPr marL="0" indent="0">
              <a:buNone/>
            </a:pPr>
            <a:r>
              <a:rPr lang="en-US" sz="1200" dirty="0">
                <a:solidFill>
                  <a:srgbClr val="5A5A5A"/>
                </a:solidFill>
                <a:latin typeface="Calibri" pitchFamily="34" charset="0"/>
                <a:ea typeface="Calibri" pitchFamily="34" charset="-122"/>
                <a:cs typeface="Calibri" pitchFamily="34" charset="-120"/>
              </a:rPr>
              <a:t>— Michel J.B., 2011</a:t>
            </a:r>
            <a:endParaRPr lang="en-US" sz="1200" dirty="0"/>
          </a:p>
        </p:txBody>
      </p:sp>
      <p:sp>
        <p:nvSpPr>
          <p:cNvPr id="7" name="Shape 5"/>
          <p:cNvSpPr/>
          <p:nvPr/>
        </p:nvSpPr>
        <p:spPr>
          <a:xfrm>
            <a:off x="6492240" y="1828800"/>
            <a:ext cx="5029200" cy="3840480"/>
          </a:xfrm>
          <a:prstGeom prst="roundRect">
            <a:avLst>
              <a:gd name="adj" fmla="val 1905"/>
            </a:avLst>
          </a:prstGeom>
          <a:solidFill>
            <a:srgbClr val="F4F6FC"/>
          </a:solidFill>
          <a:ln w="12700">
            <a:solidFill>
              <a:srgbClr val="E2E7F5"/>
            </a:solidFill>
            <a:prstDash val="solid"/>
          </a:ln>
        </p:spPr>
      </p:sp>
      <p:sp>
        <p:nvSpPr>
          <p:cNvPr id="8" name="Text 6"/>
          <p:cNvSpPr txBox="1"/>
          <p:nvPr/>
        </p:nvSpPr>
        <p:spPr>
          <a:xfrm>
            <a:off x="6858000" y="2103120"/>
            <a:ext cx="4297680" cy="36576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Michel's original source</a:t>
            </a:r>
            <a:endParaRPr lang="en-US" sz="1400" dirty="0"/>
          </a:p>
        </p:txBody>
      </p:sp>
      <p:sp>
        <p:nvSpPr>
          <p:cNvPr id="9" name="Text 7"/>
          <p:cNvSpPr txBox="1"/>
          <p:nvPr/>
        </p:nvSpPr>
        <p:spPr>
          <a:xfrm>
            <a:off x="6858000" y="2560320"/>
            <a:ext cx="4297680" cy="640080"/>
          </a:xfrm>
          <a:prstGeom prst="rect">
            <a:avLst/>
          </a:prstGeom>
          <a:noFill/>
          <a:ln/>
        </p:spPr>
        <p:txBody>
          <a:bodyPr wrap="square" rtlCol="0" anchor="ctr"/>
          <a:lstStyle/>
          <a:p>
            <a:pPr marL="0" indent="0">
              <a:buNone/>
            </a:pPr>
            <a:r>
              <a:rPr lang="en-US" sz="1300" dirty="0">
                <a:solidFill>
                  <a:srgbClr val="444444"/>
                </a:solidFill>
                <a:latin typeface="Calibri" pitchFamily="34" charset="0"/>
                <a:ea typeface="Calibri" pitchFamily="34" charset="-122"/>
                <a:cs typeface="Calibri" pitchFamily="34" charset="-120"/>
              </a:rPr>
              <a:t>Google Books corpus</a:t>
            </a:r>
            <a:endParaRPr lang="en-US" sz="1300" dirty="0"/>
          </a:p>
          <a:p>
            <a:pPr marL="0" indent="0">
              <a:buNone/>
            </a:pPr>
            <a:r>
              <a:rPr lang="en-US" sz="1300" dirty="0">
                <a:solidFill>
                  <a:srgbClr val="444444"/>
                </a:solidFill>
                <a:latin typeface="Calibri" pitchFamily="34" charset="0"/>
                <a:ea typeface="Calibri" pitchFamily="34" charset="-122"/>
                <a:cs typeface="Calibri" pitchFamily="34" charset="-120"/>
              </a:rPr>
              <a:t>40+ million books, n-gram frequency</a:t>
            </a:r>
            <a:endParaRPr lang="en-US" sz="1300" dirty="0"/>
          </a:p>
        </p:txBody>
      </p:sp>
      <p:sp>
        <p:nvSpPr>
          <p:cNvPr id="10" name="Text 8"/>
          <p:cNvSpPr txBox="1"/>
          <p:nvPr/>
        </p:nvSpPr>
        <p:spPr>
          <a:xfrm>
            <a:off x="6858000" y="3383280"/>
            <a:ext cx="4297680" cy="365760"/>
          </a:xfrm>
          <a:prstGeom prst="rect">
            <a:avLst/>
          </a:prstGeom>
          <a:noFill/>
          <a:ln/>
        </p:spPr>
        <p:txBody>
          <a:bodyPr wrap="square" rtlCol="0" anchor="ctr"/>
          <a:lstStyle/>
          <a:p>
            <a:pPr marL="0" indent="0">
              <a:buNone/>
            </a:pPr>
            <a:r>
              <a:rPr lang="en-US" sz="1400" b="1" dirty="0">
                <a:solidFill>
                  <a:srgbClr val="D64550"/>
                </a:solidFill>
                <a:latin typeface="Calibri" pitchFamily="34" charset="0"/>
                <a:ea typeface="Calibri" pitchFamily="34" charset="-122"/>
                <a:cs typeface="Calibri" pitchFamily="34" charset="-120"/>
              </a:rPr>
              <a:t>Critique (</a:t>
            </a:r>
            <a:r>
              <a:rPr lang="en-US" sz="1400" b="1" dirty="0" err="1">
                <a:solidFill>
                  <a:srgbClr val="D64550"/>
                </a:solidFill>
                <a:latin typeface="Calibri" pitchFamily="34" charset="0"/>
                <a:ea typeface="Calibri" pitchFamily="34" charset="-122"/>
                <a:cs typeface="Calibri" pitchFamily="34" charset="-120"/>
              </a:rPr>
              <a:t>Pechenick</a:t>
            </a:r>
            <a:r>
              <a:rPr lang="en-US" sz="1400" b="1" dirty="0">
                <a:solidFill>
                  <a:srgbClr val="D64550"/>
                </a:solidFill>
                <a:latin typeface="Calibri" pitchFamily="34" charset="0"/>
                <a:ea typeface="Calibri" pitchFamily="34" charset="-122"/>
                <a:cs typeface="Calibri" pitchFamily="34" charset="-120"/>
              </a:rPr>
              <a:t> J.P. , 2015)</a:t>
            </a:r>
            <a:endParaRPr lang="en-US" sz="1400" dirty="0"/>
          </a:p>
        </p:txBody>
      </p:sp>
      <p:sp>
        <p:nvSpPr>
          <p:cNvPr id="11" name="Text 9"/>
          <p:cNvSpPr txBox="1"/>
          <p:nvPr/>
        </p:nvSpPr>
        <p:spPr>
          <a:xfrm>
            <a:off x="6858000" y="3840480"/>
            <a:ext cx="4297680" cy="1554480"/>
          </a:xfrm>
          <a:prstGeom prst="rect">
            <a:avLst/>
          </a:prstGeom>
          <a:noFill/>
          <a:ln/>
        </p:spPr>
        <p:txBody>
          <a:bodyPr wrap="square" rtlCol="0" anchor="ctr"/>
          <a:lstStyle/>
          <a:p>
            <a:pPr marL="0" indent="0">
              <a:buNone/>
            </a:pPr>
            <a:r>
              <a:rPr lang="en-US" sz="1300" dirty="0">
                <a:solidFill>
                  <a:srgbClr val="444444"/>
                </a:solidFill>
                <a:latin typeface="Calibri" pitchFamily="34" charset="0"/>
                <a:ea typeface="Calibri" pitchFamily="34" charset="-122"/>
                <a:cs typeface="Calibri" pitchFamily="34" charset="-120"/>
              </a:rPr>
              <a:t>The corpus is library-like: one book equals one vote, regardless of actual readership. A growing share of scientific texts distorts word frequencies.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365760"/>
          </a:xfrm>
          <a:prstGeom prst="rect">
            <a:avLst/>
          </a:prstGeom>
          <a:noFill/>
          <a:ln/>
        </p:spPr>
        <p:txBody>
          <a:bodyPr wrap="square" rtlCol="0" anchor="ctr"/>
          <a:lstStyle/>
          <a:p>
            <a:pPr marL="0" indent="0">
              <a:buNone/>
            </a:pPr>
            <a:r>
              <a:rPr lang="en-US" sz="1300" b="1" kern="0" spc="200" dirty="0">
                <a:solidFill>
                  <a:srgbClr val="D64550"/>
                </a:solidFill>
                <a:latin typeface="Calibri" pitchFamily="34" charset="0"/>
                <a:ea typeface="Calibri" pitchFamily="34" charset="-122"/>
                <a:cs typeface="Calibri" pitchFamily="34" charset="-120"/>
              </a:rPr>
              <a:t>METHOD FOUNDATION</a:t>
            </a:r>
            <a:endParaRPr lang="en-US" sz="1300" dirty="0"/>
          </a:p>
        </p:txBody>
      </p:sp>
      <p:sp>
        <p:nvSpPr>
          <p:cNvPr id="3" name="Text 1"/>
          <p:cNvSpPr txBox="1"/>
          <p:nvPr/>
        </p:nvSpPr>
        <p:spPr>
          <a:xfrm>
            <a:off x="640080" y="777240"/>
            <a:ext cx="10881360" cy="82296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Why Wikipedia</a:t>
            </a:r>
            <a:endParaRPr lang="en-US" sz="3200" dirty="0"/>
          </a:p>
        </p:txBody>
      </p:sp>
      <p:sp>
        <p:nvSpPr>
          <p:cNvPr id="4" name="Shape 2"/>
          <p:cNvSpPr/>
          <p:nvPr/>
        </p:nvSpPr>
        <p:spPr>
          <a:xfrm>
            <a:off x="640080" y="1874520"/>
            <a:ext cx="640080" cy="640080"/>
          </a:xfrm>
          <a:prstGeom prst="ellipse">
            <a:avLst/>
          </a:prstGeom>
          <a:solidFill>
            <a:srgbClr val="1E2761"/>
          </a:solidFill>
          <a:ln/>
        </p:spPr>
      </p:sp>
      <p:sp>
        <p:nvSpPr>
          <p:cNvPr id="5" name="Text 3"/>
          <p:cNvSpPr txBox="1"/>
          <p:nvPr/>
        </p:nvSpPr>
        <p:spPr>
          <a:xfrm>
            <a:off x="640080" y="1874520"/>
            <a:ext cx="640080" cy="64008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01</a:t>
            </a:r>
            <a:endParaRPr lang="en-US" sz="1600" dirty="0"/>
          </a:p>
        </p:txBody>
      </p:sp>
      <p:sp>
        <p:nvSpPr>
          <p:cNvPr id="6" name="Text 4"/>
          <p:cNvSpPr txBox="1"/>
          <p:nvPr/>
        </p:nvSpPr>
        <p:spPr>
          <a:xfrm>
            <a:off x="1554480" y="1847088"/>
            <a:ext cx="4206240" cy="36576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Michel already used Wikipedia</a:t>
            </a:r>
            <a:endParaRPr lang="en-US" sz="1500" dirty="0"/>
          </a:p>
        </p:txBody>
      </p:sp>
      <p:sp>
        <p:nvSpPr>
          <p:cNvPr id="7" name="Text 5"/>
          <p:cNvSpPr txBox="1"/>
          <p:nvPr/>
        </p:nvSpPr>
        <p:spPr>
          <a:xfrm>
            <a:off x="1554480" y="2194560"/>
            <a:ext cx="4206240" cy="640080"/>
          </a:xfrm>
          <a:prstGeom prst="rect">
            <a:avLst/>
          </a:prstGeom>
          <a:noFill/>
          <a:ln/>
        </p:spPr>
        <p:txBody>
          <a:bodyPr wrap="square" rtlCol="0" anchor="ctr"/>
          <a:lstStyle/>
          <a:p>
            <a:pPr marL="0" indent="0">
              <a:buNone/>
            </a:pPr>
            <a:r>
              <a:rPr lang="en-US" sz="1200" dirty="0">
                <a:solidFill>
                  <a:srgbClr val="444444"/>
                </a:solidFill>
                <a:latin typeface="Calibri" pitchFamily="34" charset="0"/>
                <a:ea typeface="Calibri" pitchFamily="34" charset="-122"/>
                <a:cs typeface="Calibri" pitchFamily="34" charset="-120"/>
              </a:rPr>
              <a:t>Fame analysis of 740,000 people in the original 2011 paper</a:t>
            </a:r>
            <a:endParaRPr lang="en-US" sz="1200" dirty="0"/>
          </a:p>
        </p:txBody>
      </p:sp>
      <p:sp>
        <p:nvSpPr>
          <p:cNvPr id="8" name="Shape 6"/>
          <p:cNvSpPr/>
          <p:nvPr/>
        </p:nvSpPr>
        <p:spPr>
          <a:xfrm>
            <a:off x="640080" y="2971800"/>
            <a:ext cx="640080" cy="640080"/>
          </a:xfrm>
          <a:prstGeom prst="ellipse">
            <a:avLst/>
          </a:prstGeom>
          <a:solidFill>
            <a:srgbClr val="1E2761"/>
          </a:solidFill>
          <a:ln/>
        </p:spPr>
      </p:sp>
      <p:sp>
        <p:nvSpPr>
          <p:cNvPr id="9" name="Text 7"/>
          <p:cNvSpPr txBox="1"/>
          <p:nvPr/>
        </p:nvSpPr>
        <p:spPr>
          <a:xfrm>
            <a:off x="640080" y="2971800"/>
            <a:ext cx="640080" cy="64008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02</a:t>
            </a:r>
            <a:endParaRPr lang="en-US" sz="1600" dirty="0"/>
          </a:p>
        </p:txBody>
      </p:sp>
      <p:sp>
        <p:nvSpPr>
          <p:cNvPr id="10" name="Text 8"/>
          <p:cNvSpPr txBox="1"/>
          <p:nvPr/>
        </p:nvSpPr>
        <p:spPr>
          <a:xfrm>
            <a:off x="1554480" y="2944368"/>
            <a:ext cx="4206240" cy="36576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Two independent signals</a:t>
            </a:r>
            <a:endParaRPr lang="en-US" sz="1500" dirty="0"/>
          </a:p>
        </p:txBody>
      </p:sp>
      <p:sp>
        <p:nvSpPr>
          <p:cNvPr id="11" name="Text 9"/>
          <p:cNvSpPr txBox="1"/>
          <p:nvPr/>
        </p:nvSpPr>
        <p:spPr>
          <a:xfrm>
            <a:off x="1554480" y="3291840"/>
            <a:ext cx="4206240" cy="640080"/>
          </a:xfrm>
          <a:prstGeom prst="rect">
            <a:avLst/>
          </a:prstGeom>
          <a:noFill/>
          <a:ln/>
        </p:spPr>
        <p:txBody>
          <a:bodyPr wrap="square" rtlCol="0" anchor="ctr"/>
          <a:lstStyle/>
          <a:p>
            <a:pPr marL="0" indent="0">
              <a:buNone/>
            </a:pPr>
            <a:r>
              <a:rPr lang="en-US" sz="1200" dirty="0">
                <a:solidFill>
                  <a:srgbClr val="444444"/>
                </a:solidFill>
                <a:latin typeface="Calibri" pitchFamily="34" charset="0"/>
                <a:ea typeface="Calibri" pitchFamily="34" charset="-122"/>
                <a:cs typeface="Calibri" pitchFamily="34" charset="-120"/>
              </a:rPr>
              <a:t>Views measure consumption, edits measure production. Books offer only one signal</a:t>
            </a:r>
            <a:endParaRPr lang="en-US" sz="1200" dirty="0"/>
          </a:p>
        </p:txBody>
      </p:sp>
      <p:sp>
        <p:nvSpPr>
          <p:cNvPr id="12" name="Shape 10"/>
          <p:cNvSpPr/>
          <p:nvPr/>
        </p:nvSpPr>
        <p:spPr>
          <a:xfrm>
            <a:off x="640080" y="4069080"/>
            <a:ext cx="640080" cy="640080"/>
          </a:xfrm>
          <a:prstGeom prst="ellipse">
            <a:avLst/>
          </a:prstGeom>
          <a:solidFill>
            <a:srgbClr val="1E2761"/>
          </a:solidFill>
          <a:ln/>
        </p:spPr>
      </p:sp>
      <p:sp>
        <p:nvSpPr>
          <p:cNvPr id="13" name="Text 11"/>
          <p:cNvSpPr txBox="1"/>
          <p:nvPr/>
        </p:nvSpPr>
        <p:spPr>
          <a:xfrm>
            <a:off x="640080" y="4069080"/>
            <a:ext cx="640080" cy="64008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03</a:t>
            </a:r>
            <a:endParaRPr lang="en-US" sz="1600" dirty="0"/>
          </a:p>
        </p:txBody>
      </p:sp>
      <p:sp>
        <p:nvSpPr>
          <p:cNvPr id="14" name="Text 12"/>
          <p:cNvSpPr txBox="1"/>
          <p:nvPr/>
        </p:nvSpPr>
        <p:spPr>
          <a:xfrm>
            <a:off x="1554480" y="4041648"/>
            <a:ext cx="4206240" cy="36576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Real time</a:t>
            </a:r>
            <a:endParaRPr lang="en-US" sz="1500" dirty="0"/>
          </a:p>
        </p:txBody>
      </p:sp>
      <p:sp>
        <p:nvSpPr>
          <p:cNvPr id="15" name="Text 13"/>
          <p:cNvSpPr txBox="1"/>
          <p:nvPr/>
        </p:nvSpPr>
        <p:spPr>
          <a:xfrm>
            <a:off x="1554480" y="4389120"/>
            <a:ext cx="4206240" cy="640080"/>
          </a:xfrm>
          <a:prstGeom prst="rect">
            <a:avLst/>
          </a:prstGeom>
          <a:noFill/>
          <a:ln/>
        </p:spPr>
        <p:txBody>
          <a:bodyPr wrap="square" rtlCol="0" anchor="ctr"/>
          <a:lstStyle/>
          <a:p>
            <a:pPr marL="0" indent="0">
              <a:buNone/>
            </a:pPr>
            <a:r>
              <a:rPr lang="en-US" sz="1200" dirty="0">
                <a:solidFill>
                  <a:srgbClr val="444444"/>
                </a:solidFill>
                <a:latin typeface="Calibri" pitchFamily="34" charset="0"/>
                <a:ea typeface="Calibri" pitchFamily="34" charset="-122"/>
                <a:cs typeface="Calibri" pitchFamily="34" charset="-120"/>
              </a:rPr>
              <a:t>Edits are recorded within hours. Books require months to be published</a:t>
            </a:r>
            <a:endParaRPr lang="en-US" sz="1200" dirty="0"/>
          </a:p>
        </p:txBody>
      </p:sp>
      <p:sp>
        <p:nvSpPr>
          <p:cNvPr id="16" name="Shape 14"/>
          <p:cNvSpPr/>
          <p:nvPr/>
        </p:nvSpPr>
        <p:spPr>
          <a:xfrm>
            <a:off x="640080" y="5166360"/>
            <a:ext cx="640080" cy="640080"/>
          </a:xfrm>
          <a:prstGeom prst="ellipse">
            <a:avLst/>
          </a:prstGeom>
          <a:solidFill>
            <a:srgbClr val="1E2761"/>
          </a:solidFill>
          <a:ln/>
        </p:spPr>
      </p:sp>
      <p:sp>
        <p:nvSpPr>
          <p:cNvPr id="17" name="Text 15"/>
          <p:cNvSpPr txBox="1"/>
          <p:nvPr/>
        </p:nvSpPr>
        <p:spPr>
          <a:xfrm>
            <a:off x="640080" y="5166360"/>
            <a:ext cx="640080" cy="64008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04</a:t>
            </a:r>
            <a:endParaRPr lang="en-US" sz="1600" dirty="0"/>
          </a:p>
        </p:txBody>
      </p:sp>
      <p:sp>
        <p:nvSpPr>
          <p:cNvPr id="18" name="Text 16"/>
          <p:cNvSpPr txBox="1"/>
          <p:nvPr/>
        </p:nvSpPr>
        <p:spPr>
          <a:xfrm>
            <a:off x="1554480" y="5138928"/>
            <a:ext cx="4206240" cy="36576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Collectiveness</a:t>
            </a:r>
            <a:endParaRPr lang="en-US" sz="1500" dirty="0"/>
          </a:p>
        </p:txBody>
      </p:sp>
      <p:sp>
        <p:nvSpPr>
          <p:cNvPr id="19" name="Text 17"/>
          <p:cNvSpPr txBox="1"/>
          <p:nvPr/>
        </p:nvSpPr>
        <p:spPr>
          <a:xfrm>
            <a:off x="1554480" y="5486400"/>
            <a:ext cx="4206240" cy="640080"/>
          </a:xfrm>
          <a:prstGeom prst="rect">
            <a:avLst/>
          </a:prstGeom>
          <a:noFill/>
          <a:ln/>
        </p:spPr>
        <p:txBody>
          <a:bodyPr wrap="square" rtlCol="0" anchor="ctr"/>
          <a:lstStyle/>
          <a:p>
            <a:pPr marL="0" indent="0">
              <a:buNone/>
            </a:pPr>
            <a:r>
              <a:rPr lang="en-US" sz="1200" dirty="0">
                <a:solidFill>
                  <a:srgbClr val="444444"/>
                </a:solidFill>
                <a:latin typeface="Calibri" pitchFamily="34" charset="0"/>
                <a:ea typeface="Calibri" pitchFamily="34" charset="-122"/>
                <a:cs typeface="Calibri" pitchFamily="34" charset="-120"/>
              </a:rPr>
              <a:t>Decentralized editing is a more direct embodiment of Halbwachs's collective memory</a:t>
            </a:r>
            <a:endParaRPr lang="en-US" sz="1200" dirty="0"/>
          </a:p>
        </p:txBody>
      </p:sp>
      <p:sp>
        <p:nvSpPr>
          <p:cNvPr id="20" name="Shape 18"/>
          <p:cNvSpPr/>
          <p:nvPr/>
        </p:nvSpPr>
        <p:spPr>
          <a:xfrm>
            <a:off x="6400800" y="1874520"/>
            <a:ext cx="5120640" cy="4114800"/>
          </a:xfrm>
          <a:prstGeom prst="roundRect">
            <a:avLst>
              <a:gd name="adj" fmla="val 2222"/>
            </a:avLst>
          </a:prstGeom>
          <a:solidFill>
            <a:srgbClr val="1E2761"/>
          </a:solidFill>
          <a:ln/>
        </p:spPr>
      </p:sp>
      <p:sp>
        <p:nvSpPr>
          <p:cNvPr id="21" name="Text 19"/>
          <p:cNvSpPr txBox="1"/>
          <p:nvPr/>
        </p:nvSpPr>
        <p:spPr>
          <a:xfrm>
            <a:off x="6766560" y="2148840"/>
            <a:ext cx="4389120" cy="365760"/>
          </a:xfrm>
          <a:prstGeom prst="rect">
            <a:avLst/>
          </a:prstGeom>
          <a:noFill/>
          <a:ln/>
        </p:spPr>
        <p:txBody>
          <a:bodyPr wrap="square" rtlCol="0" anchor="ctr"/>
          <a:lstStyle/>
          <a:p>
            <a:pPr marL="0" indent="0">
              <a:buNone/>
            </a:pPr>
            <a:r>
              <a:rPr lang="en-US" sz="1400" b="1" dirty="0">
                <a:solidFill>
                  <a:srgbClr val="CADCFC"/>
                </a:solidFill>
                <a:latin typeface="Calibri" pitchFamily="34" charset="0"/>
                <a:ea typeface="Calibri" pitchFamily="34" charset="-122"/>
                <a:cs typeface="Calibri" pitchFamily="34" charset="-120"/>
              </a:rPr>
              <a:t>Google Books</a:t>
            </a:r>
            <a:endParaRPr lang="en-US" sz="1400" dirty="0"/>
          </a:p>
        </p:txBody>
      </p:sp>
      <p:sp>
        <p:nvSpPr>
          <p:cNvPr id="22" name="Text 20"/>
          <p:cNvSpPr txBox="1"/>
          <p:nvPr/>
        </p:nvSpPr>
        <p:spPr>
          <a:xfrm>
            <a:off x="6766560" y="2560320"/>
            <a:ext cx="4389120" cy="1005840"/>
          </a:xfrm>
          <a:prstGeom prst="rect">
            <a:avLst/>
          </a:prstGeom>
          <a:noFill/>
          <a:ln/>
        </p:spPr>
        <p:txBody>
          <a:bodyPr wrap="square" rtlCol="0" anchor="ctr"/>
          <a:lstStyle/>
          <a:p>
            <a:pPr marL="0" indent="0">
              <a:lnSpc>
                <a:spcPct val="140000"/>
              </a:lnSpc>
              <a:buNone/>
            </a:pPr>
            <a:r>
              <a:rPr lang="en-US" sz="1300" dirty="0">
                <a:solidFill>
                  <a:srgbClr val="FFFFFF"/>
                </a:solidFill>
                <a:latin typeface="Calibri" pitchFamily="34" charset="0"/>
                <a:ea typeface="Calibri" pitchFamily="34" charset="-122"/>
                <a:cs typeface="Calibri" pitchFamily="34" charset="-120"/>
              </a:rPr>
              <a:t>text publication</a:t>
            </a:r>
            <a:endParaRPr lang="en-US" sz="1300" dirty="0"/>
          </a:p>
          <a:p>
            <a:pPr marL="0" indent="0">
              <a:lnSpc>
                <a:spcPct val="140000"/>
              </a:lnSpc>
              <a:buNone/>
            </a:pPr>
            <a:r>
              <a:rPr lang="en-US" sz="1300" dirty="0">
                <a:solidFill>
                  <a:srgbClr val="FFFFFF"/>
                </a:solidFill>
                <a:latin typeface="Calibri" pitchFamily="34" charset="0"/>
                <a:ea typeface="Calibri" pitchFamily="34" charset="-122"/>
                <a:cs typeface="Calibri" pitchFamily="34" charset="-120"/>
              </a:rPr>
              <a:t>one signal</a:t>
            </a:r>
            <a:endParaRPr lang="en-US" sz="1300" dirty="0"/>
          </a:p>
          <a:p>
            <a:pPr marL="0" indent="0">
              <a:lnSpc>
                <a:spcPct val="140000"/>
              </a:lnSpc>
              <a:buNone/>
            </a:pPr>
            <a:r>
              <a:rPr lang="en-US" sz="1300" dirty="0">
                <a:solidFill>
                  <a:srgbClr val="FFFFFF"/>
                </a:solidFill>
                <a:latin typeface="Calibri" pitchFamily="34" charset="0"/>
                <a:ea typeface="Calibri" pitchFamily="34" charset="-122"/>
                <a:cs typeface="Calibri" pitchFamily="34" charset="-120"/>
              </a:rPr>
              <a:t>years of delay</a:t>
            </a:r>
            <a:endParaRPr lang="en-US" sz="1300" dirty="0"/>
          </a:p>
        </p:txBody>
      </p:sp>
      <p:sp>
        <p:nvSpPr>
          <p:cNvPr id="23" name="Shape 21"/>
          <p:cNvSpPr/>
          <p:nvPr/>
        </p:nvSpPr>
        <p:spPr>
          <a:xfrm>
            <a:off x="6766560" y="3749040"/>
            <a:ext cx="4389120" cy="0"/>
          </a:xfrm>
          <a:prstGeom prst="line">
            <a:avLst/>
          </a:prstGeom>
          <a:noFill/>
          <a:ln w="12700">
            <a:solidFill>
              <a:srgbClr val="4A5590"/>
            </a:solidFill>
            <a:prstDash val="solid"/>
          </a:ln>
        </p:spPr>
      </p:sp>
      <p:sp>
        <p:nvSpPr>
          <p:cNvPr id="24" name="Text 22"/>
          <p:cNvSpPr txBox="1"/>
          <p:nvPr/>
        </p:nvSpPr>
        <p:spPr>
          <a:xfrm>
            <a:off x="6766560" y="3931920"/>
            <a:ext cx="4389120" cy="365760"/>
          </a:xfrm>
          <a:prstGeom prst="rect">
            <a:avLst/>
          </a:prstGeom>
          <a:noFill/>
          <a:ln/>
        </p:spPr>
        <p:txBody>
          <a:bodyPr wrap="square" rtlCol="0" anchor="ctr"/>
          <a:lstStyle/>
          <a:p>
            <a:pPr marL="0" indent="0">
              <a:buNone/>
            </a:pPr>
            <a:r>
              <a:rPr lang="en-US" sz="1400" b="1" dirty="0">
                <a:solidFill>
                  <a:srgbClr val="CADCFC"/>
                </a:solidFill>
                <a:latin typeface="Calibri" pitchFamily="34" charset="0"/>
                <a:ea typeface="Calibri" pitchFamily="34" charset="-122"/>
                <a:cs typeface="Calibri" pitchFamily="34" charset="-120"/>
              </a:rPr>
              <a:t>Wikipedia</a:t>
            </a:r>
            <a:endParaRPr lang="en-US" sz="1400" dirty="0"/>
          </a:p>
        </p:txBody>
      </p:sp>
      <p:sp>
        <p:nvSpPr>
          <p:cNvPr id="25" name="Text 23"/>
          <p:cNvSpPr txBox="1"/>
          <p:nvPr/>
        </p:nvSpPr>
        <p:spPr>
          <a:xfrm>
            <a:off x="6766560" y="4343400"/>
            <a:ext cx="4389120" cy="1005840"/>
          </a:xfrm>
          <a:prstGeom prst="rect">
            <a:avLst/>
          </a:prstGeom>
          <a:noFill/>
          <a:ln/>
        </p:spPr>
        <p:txBody>
          <a:bodyPr wrap="square" rtlCol="0" anchor="ctr"/>
          <a:lstStyle/>
          <a:p>
            <a:pPr marL="0" indent="0">
              <a:lnSpc>
                <a:spcPct val="140000"/>
              </a:lnSpc>
              <a:buNone/>
            </a:pPr>
            <a:r>
              <a:rPr lang="en-US" sz="1300" dirty="0">
                <a:solidFill>
                  <a:srgbClr val="FFFFFF"/>
                </a:solidFill>
                <a:latin typeface="Calibri" pitchFamily="34" charset="0"/>
                <a:ea typeface="Calibri" pitchFamily="34" charset="-122"/>
                <a:cs typeface="Calibri" pitchFamily="34" charset="-120"/>
              </a:rPr>
              <a:t>consumption + production</a:t>
            </a:r>
            <a:endParaRPr lang="en-US" sz="1300" dirty="0"/>
          </a:p>
          <a:p>
            <a:pPr marL="0" indent="0">
              <a:lnSpc>
                <a:spcPct val="140000"/>
              </a:lnSpc>
              <a:buNone/>
            </a:pPr>
            <a:r>
              <a:rPr lang="en-US" sz="1300" dirty="0">
                <a:solidFill>
                  <a:srgbClr val="FFFFFF"/>
                </a:solidFill>
                <a:latin typeface="Calibri" pitchFamily="34" charset="0"/>
                <a:ea typeface="Calibri" pitchFamily="34" charset="-122"/>
                <a:cs typeface="Calibri" pitchFamily="34" charset="-120"/>
              </a:rPr>
              <a:t>two signals</a:t>
            </a:r>
            <a:endParaRPr lang="en-US" sz="1300" dirty="0"/>
          </a:p>
          <a:p>
            <a:pPr marL="0" indent="0">
              <a:lnSpc>
                <a:spcPct val="140000"/>
              </a:lnSpc>
              <a:buNone/>
            </a:pPr>
            <a:r>
              <a:rPr lang="en-US" sz="1300" dirty="0">
                <a:solidFill>
                  <a:srgbClr val="FFFFFF"/>
                </a:solidFill>
                <a:latin typeface="Calibri" pitchFamily="34" charset="0"/>
                <a:ea typeface="Calibri" pitchFamily="34" charset="-122"/>
                <a:cs typeface="Calibri" pitchFamily="34" charset="-120"/>
              </a:rPr>
              <a:t>real time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365760"/>
          </a:xfrm>
          <a:prstGeom prst="rect">
            <a:avLst/>
          </a:prstGeom>
          <a:noFill/>
          <a:ln/>
        </p:spPr>
        <p:txBody>
          <a:bodyPr wrap="square" rtlCol="0" anchor="ctr"/>
          <a:lstStyle/>
          <a:p>
            <a:pPr marL="0" indent="0">
              <a:buNone/>
            </a:pPr>
            <a:r>
              <a:rPr lang="en-US" sz="1300" b="1" kern="0" spc="200" dirty="0">
                <a:solidFill>
                  <a:srgbClr val="D64550"/>
                </a:solidFill>
                <a:latin typeface="Calibri" pitchFamily="34" charset="0"/>
                <a:ea typeface="Calibri" pitchFamily="34" charset="-122"/>
                <a:cs typeface="Calibri" pitchFamily="34" charset="-120"/>
              </a:rPr>
              <a:t>THEORETICAL FRAMEWORK</a:t>
            </a:r>
            <a:endParaRPr lang="en-US" sz="1300" dirty="0"/>
          </a:p>
        </p:txBody>
      </p:sp>
      <p:sp>
        <p:nvSpPr>
          <p:cNvPr id="3" name="Text 1"/>
          <p:cNvSpPr txBox="1"/>
          <p:nvPr/>
        </p:nvSpPr>
        <p:spPr>
          <a:xfrm>
            <a:off x="640080" y="777240"/>
            <a:ext cx="10881360" cy="82296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Three Phases Of The Phenomenon</a:t>
            </a:r>
            <a:endParaRPr lang="en-US" sz="3200" dirty="0"/>
          </a:p>
        </p:txBody>
      </p:sp>
      <p:sp>
        <p:nvSpPr>
          <p:cNvPr id="4" name="Shape 2"/>
          <p:cNvSpPr/>
          <p:nvPr/>
        </p:nvSpPr>
        <p:spPr>
          <a:xfrm>
            <a:off x="640080" y="2103120"/>
            <a:ext cx="3246120" cy="73152"/>
          </a:xfrm>
          <a:prstGeom prst="rect">
            <a:avLst/>
          </a:prstGeom>
          <a:solidFill>
            <a:srgbClr val="CADCFC"/>
          </a:solidFill>
          <a:ln/>
        </p:spPr>
      </p:sp>
      <p:sp>
        <p:nvSpPr>
          <p:cNvPr id="5" name="Text 3"/>
          <p:cNvSpPr txBox="1"/>
          <p:nvPr/>
        </p:nvSpPr>
        <p:spPr>
          <a:xfrm>
            <a:off x="640080" y="2286000"/>
            <a:ext cx="3246120" cy="320040"/>
          </a:xfrm>
          <a:prstGeom prst="rect">
            <a:avLst/>
          </a:prstGeom>
          <a:noFill/>
          <a:ln/>
        </p:spPr>
        <p:txBody>
          <a:bodyPr wrap="square" rtlCol="0" anchor="ctr"/>
          <a:lstStyle/>
          <a:p>
            <a:pPr marL="0" indent="0">
              <a:buNone/>
            </a:pPr>
            <a:r>
              <a:rPr lang="en-US" sz="1100" b="1" kern="0" spc="100" dirty="0">
                <a:solidFill>
                  <a:srgbClr val="5A76B0"/>
                </a:solidFill>
                <a:latin typeface="Calibri" pitchFamily="34" charset="0"/>
                <a:ea typeface="Calibri" pitchFamily="34" charset="-122"/>
                <a:cs typeface="Calibri" pitchFamily="34" charset="-120"/>
              </a:rPr>
              <a:t>2001 – JUNE 2009</a:t>
            </a:r>
            <a:endParaRPr lang="en-US" sz="1100" dirty="0"/>
          </a:p>
        </p:txBody>
      </p:sp>
      <p:sp>
        <p:nvSpPr>
          <p:cNvPr id="6" name="Text 4"/>
          <p:cNvSpPr txBox="1"/>
          <p:nvPr/>
        </p:nvSpPr>
        <p:spPr>
          <a:xfrm>
            <a:off x="640080" y="2606040"/>
            <a:ext cx="3246120" cy="548640"/>
          </a:xfrm>
          <a:prstGeom prst="rect">
            <a:avLst/>
          </a:prstGeom>
          <a:noFill/>
          <a:ln/>
        </p:spPr>
        <p:txBody>
          <a:bodyPr wrap="square" rtlCol="0" anchor="ctr"/>
          <a:lstStyle/>
          <a:p>
            <a:pPr marL="0" indent="0">
              <a:buNone/>
            </a:pPr>
            <a:r>
              <a:rPr lang="en-US" sz="2000" b="1" dirty="0">
                <a:solidFill>
                  <a:srgbClr val="1E2761"/>
                </a:solidFill>
                <a:latin typeface="Cambria" pitchFamily="34" charset="0"/>
                <a:ea typeface="Cambria" pitchFamily="34" charset="-122"/>
                <a:cs typeface="Cambria" pitchFamily="34" charset="-120"/>
              </a:rPr>
              <a:t>Before the shock</a:t>
            </a:r>
            <a:endParaRPr lang="en-US" sz="2000" dirty="0"/>
          </a:p>
        </p:txBody>
      </p:sp>
      <p:sp>
        <p:nvSpPr>
          <p:cNvPr id="7" name="Text 5"/>
          <p:cNvSpPr txBox="1"/>
          <p:nvPr/>
        </p:nvSpPr>
        <p:spPr>
          <a:xfrm>
            <a:off x="640080" y="3200400"/>
            <a:ext cx="3246120" cy="1463040"/>
          </a:xfrm>
          <a:prstGeom prst="rect">
            <a:avLst/>
          </a:prstGeom>
          <a:noFill/>
          <a:ln/>
        </p:spPr>
        <p:txBody>
          <a:bodyPr wrap="square" rtlCol="0" anchor="t"/>
          <a:lstStyle/>
          <a:p>
            <a:pPr marL="0" indent="0">
              <a:buNone/>
            </a:pPr>
            <a:r>
              <a:rPr lang="en-US" sz="1300" dirty="0">
                <a:solidFill>
                  <a:srgbClr val="444444"/>
                </a:solidFill>
                <a:latin typeface="Calibri" pitchFamily="34" charset="0"/>
                <a:ea typeface="Calibri" pitchFamily="34" charset="-122"/>
                <a:cs typeface="Calibri" pitchFamily="34" charset="-120"/>
              </a:rPr>
              <a:t>A stable plateau. Slow article growth, routine maintenance mode.</a:t>
            </a:r>
            <a:endParaRPr lang="en-US" sz="1300" dirty="0"/>
          </a:p>
        </p:txBody>
      </p:sp>
      <p:sp>
        <p:nvSpPr>
          <p:cNvPr id="8" name="Shape 6"/>
          <p:cNvSpPr/>
          <p:nvPr/>
        </p:nvSpPr>
        <p:spPr>
          <a:xfrm>
            <a:off x="4160520" y="2103120"/>
            <a:ext cx="3246120" cy="73152"/>
          </a:xfrm>
          <a:prstGeom prst="rect">
            <a:avLst/>
          </a:prstGeom>
          <a:solidFill>
            <a:srgbClr val="D64550"/>
          </a:solidFill>
          <a:ln/>
        </p:spPr>
      </p:sp>
      <p:sp>
        <p:nvSpPr>
          <p:cNvPr id="9" name="Text 7"/>
          <p:cNvSpPr txBox="1"/>
          <p:nvPr/>
        </p:nvSpPr>
        <p:spPr>
          <a:xfrm>
            <a:off x="4160520" y="2286000"/>
            <a:ext cx="3246120" cy="320040"/>
          </a:xfrm>
          <a:prstGeom prst="rect">
            <a:avLst/>
          </a:prstGeom>
          <a:noFill/>
          <a:ln/>
        </p:spPr>
        <p:txBody>
          <a:bodyPr wrap="square" rtlCol="0" anchor="ctr"/>
          <a:lstStyle/>
          <a:p>
            <a:pPr marL="0" indent="0">
              <a:buNone/>
            </a:pPr>
            <a:r>
              <a:rPr lang="en-US" sz="1100" b="1" kern="0" spc="100" dirty="0">
                <a:solidFill>
                  <a:srgbClr val="D64550"/>
                </a:solidFill>
                <a:latin typeface="Calibri" pitchFamily="34" charset="0"/>
                <a:ea typeface="Calibri" pitchFamily="34" charset="-122"/>
                <a:cs typeface="Calibri" pitchFamily="34" charset="-120"/>
              </a:rPr>
              <a:t>25 JUNE 2009</a:t>
            </a:r>
            <a:endParaRPr lang="en-US" sz="1100" dirty="0"/>
          </a:p>
        </p:txBody>
      </p:sp>
      <p:sp>
        <p:nvSpPr>
          <p:cNvPr id="10" name="Text 8"/>
          <p:cNvSpPr txBox="1"/>
          <p:nvPr/>
        </p:nvSpPr>
        <p:spPr>
          <a:xfrm>
            <a:off x="4160520" y="2606040"/>
            <a:ext cx="3246120" cy="548640"/>
          </a:xfrm>
          <a:prstGeom prst="rect">
            <a:avLst/>
          </a:prstGeom>
          <a:noFill/>
          <a:ln/>
        </p:spPr>
        <p:txBody>
          <a:bodyPr wrap="square" rtlCol="0" anchor="ctr"/>
          <a:lstStyle/>
          <a:p>
            <a:pPr marL="0" indent="0">
              <a:buNone/>
            </a:pPr>
            <a:r>
              <a:rPr lang="en-US" sz="2000" b="1" dirty="0">
                <a:solidFill>
                  <a:srgbClr val="1E2761"/>
                </a:solidFill>
                <a:latin typeface="Cambria" pitchFamily="34" charset="0"/>
                <a:ea typeface="Cambria" pitchFamily="34" charset="-122"/>
                <a:cs typeface="Cambria" pitchFamily="34" charset="-120"/>
              </a:rPr>
              <a:t>The flashpoint</a:t>
            </a:r>
            <a:endParaRPr lang="en-US" sz="2000" dirty="0"/>
          </a:p>
        </p:txBody>
      </p:sp>
      <p:sp>
        <p:nvSpPr>
          <p:cNvPr id="11" name="Text 9"/>
          <p:cNvSpPr txBox="1"/>
          <p:nvPr/>
        </p:nvSpPr>
        <p:spPr>
          <a:xfrm>
            <a:off x="4160520" y="3200400"/>
            <a:ext cx="3246120" cy="1463040"/>
          </a:xfrm>
          <a:prstGeom prst="rect">
            <a:avLst/>
          </a:prstGeom>
          <a:noFill/>
          <a:ln/>
        </p:spPr>
        <p:txBody>
          <a:bodyPr wrap="square" rtlCol="0" anchor="t"/>
          <a:lstStyle/>
          <a:p>
            <a:pPr marL="0" indent="0">
              <a:buNone/>
            </a:pPr>
            <a:r>
              <a:rPr lang="en-US" sz="1300" dirty="0">
                <a:solidFill>
                  <a:srgbClr val="444444"/>
                </a:solidFill>
                <a:latin typeface="Calibri" pitchFamily="34" charset="0"/>
                <a:ea typeface="Calibri" pitchFamily="34" charset="-122"/>
                <a:cs typeface="Calibri" pitchFamily="34" charset="-120"/>
              </a:rPr>
              <a:t>A phase transition. Exogenous shock: a surge in views and edits.</a:t>
            </a:r>
            <a:endParaRPr lang="en-US" sz="1300" dirty="0"/>
          </a:p>
        </p:txBody>
      </p:sp>
      <p:sp>
        <p:nvSpPr>
          <p:cNvPr id="12" name="Shape 10"/>
          <p:cNvSpPr/>
          <p:nvPr/>
        </p:nvSpPr>
        <p:spPr>
          <a:xfrm>
            <a:off x="7680960" y="2103120"/>
            <a:ext cx="3246120" cy="73152"/>
          </a:xfrm>
          <a:prstGeom prst="rect">
            <a:avLst/>
          </a:prstGeom>
          <a:solidFill>
            <a:srgbClr val="2C5F2D"/>
          </a:solidFill>
          <a:ln/>
        </p:spPr>
      </p:sp>
      <p:sp>
        <p:nvSpPr>
          <p:cNvPr id="13" name="Text 11"/>
          <p:cNvSpPr txBox="1"/>
          <p:nvPr/>
        </p:nvSpPr>
        <p:spPr>
          <a:xfrm>
            <a:off x="7680960" y="2286000"/>
            <a:ext cx="3246120" cy="320040"/>
          </a:xfrm>
          <a:prstGeom prst="rect">
            <a:avLst/>
          </a:prstGeom>
          <a:noFill/>
          <a:ln/>
        </p:spPr>
        <p:txBody>
          <a:bodyPr wrap="square" rtlCol="0" anchor="ctr"/>
          <a:lstStyle/>
          <a:p>
            <a:pPr marL="0" indent="0">
              <a:buNone/>
            </a:pPr>
            <a:r>
              <a:rPr lang="en-US" sz="1100" b="1" kern="0" spc="100" dirty="0">
                <a:solidFill>
                  <a:srgbClr val="2C5F2D"/>
                </a:solidFill>
                <a:latin typeface="Calibri" pitchFamily="34" charset="0"/>
                <a:ea typeface="Calibri" pitchFamily="34" charset="-122"/>
                <a:cs typeface="Calibri" pitchFamily="34" charset="-120"/>
              </a:rPr>
              <a:t>AFTER 2009</a:t>
            </a:r>
            <a:endParaRPr lang="en-US" sz="1100" dirty="0"/>
          </a:p>
        </p:txBody>
      </p:sp>
      <p:sp>
        <p:nvSpPr>
          <p:cNvPr id="14" name="Text 12"/>
          <p:cNvSpPr txBox="1"/>
          <p:nvPr/>
        </p:nvSpPr>
        <p:spPr>
          <a:xfrm>
            <a:off x="7680960" y="2606040"/>
            <a:ext cx="3246120" cy="548640"/>
          </a:xfrm>
          <a:prstGeom prst="rect">
            <a:avLst/>
          </a:prstGeom>
          <a:noFill/>
          <a:ln/>
        </p:spPr>
        <p:txBody>
          <a:bodyPr wrap="square" rtlCol="0" anchor="ctr"/>
          <a:lstStyle/>
          <a:p>
            <a:pPr marL="0" indent="0">
              <a:buNone/>
            </a:pPr>
            <a:r>
              <a:rPr lang="en-US" sz="2000" b="1" dirty="0">
                <a:solidFill>
                  <a:srgbClr val="1E2761"/>
                </a:solidFill>
                <a:latin typeface="Cambria" pitchFamily="34" charset="0"/>
                <a:ea typeface="Cambria" pitchFamily="34" charset="-122"/>
                <a:cs typeface="Cambria" pitchFamily="34" charset="-120"/>
              </a:rPr>
              <a:t>The residue</a:t>
            </a:r>
            <a:endParaRPr lang="en-US" sz="2000" dirty="0"/>
          </a:p>
        </p:txBody>
      </p:sp>
      <p:sp>
        <p:nvSpPr>
          <p:cNvPr id="15" name="Text 13"/>
          <p:cNvSpPr txBox="1"/>
          <p:nvPr/>
        </p:nvSpPr>
        <p:spPr>
          <a:xfrm>
            <a:off x="7680960" y="3200400"/>
            <a:ext cx="3246120" cy="1463040"/>
          </a:xfrm>
          <a:prstGeom prst="rect">
            <a:avLst/>
          </a:prstGeom>
          <a:noFill/>
          <a:ln/>
        </p:spPr>
        <p:txBody>
          <a:bodyPr wrap="square" rtlCol="0" anchor="t"/>
          <a:lstStyle/>
          <a:p>
            <a:pPr marL="0" indent="0">
              <a:buNone/>
            </a:pPr>
            <a:r>
              <a:rPr lang="en-US" sz="1300" dirty="0">
                <a:solidFill>
                  <a:srgbClr val="444444"/>
                </a:solidFill>
                <a:latin typeface="Calibri" pitchFamily="34" charset="0"/>
                <a:ea typeface="Calibri" pitchFamily="34" charset="-122"/>
                <a:cs typeface="Calibri" pitchFamily="34" charset="-120"/>
              </a:rPr>
              <a:t>Views and edits decay. Article size never returns to baseline.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365760"/>
          </a:xfrm>
          <a:prstGeom prst="rect">
            <a:avLst/>
          </a:prstGeom>
          <a:noFill/>
          <a:ln/>
        </p:spPr>
        <p:txBody>
          <a:bodyPr wrap="square" rtlCol="0" anchor="ctr"/>
          <a:lstStyle/>
          <a:p>
            <a:pPr marL="0" indent="0">
              <a:buNone/>
            </a:pPr>
            <a:r>
              <a:rPr lang="en-US" sz="1300" b="1" kern="0" spc="200" dirty="0">
                <a:solidFill>
                  <a:srgbClr val="D64550"/>
                </a:solidFill>
                <a:latin typeface="Calibri" pitchFamily="34" charset="0"/>
                <a:ea typeface="Calibri" pitchFamily="34" charset="-122"/>
                <a:cs typeface="Calibri" pitchFamily="34" charset="-120"/>
              </a:rPr>
              <a:t>DATA and METHOD</a:t>
            </a:r>
            <a:endParaRPr lang="en-US" sz="1300" dirty="0"/>
          </a:p>
        </p:txBody>
      </p:sp>
      <p:sp>
        <p:nvSpPr>
          <p:cNvPr id="3" name="Text 1"/>
          <p:cNvSpPr txBox="1"/>
          <p:nvPr/>
        </p:nvSpPr>
        <p:spPr>
          <a:xfrm>
            <a:off x="640080" y="777240"/>
            <a:ext cx="10881360" cy="82296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Data And Method</a:t>
            </a:r>
            <a:endParaRPr lang="en-US" sz="3200" dirty="0"/>
          </a:p>
        </p:txBody>
      </p:sp>
      <p:sp>
        <p:nvSpPr>
          <p:cNvPr id="4" name="Shape 2"/>
          <p:cNvSpPr/>
          <p:nvPr/>
        </p:nvSpPr>
        <p:spPr>
          <a:xfrm>
            <a:off x="640080" y="1920240"/>
            <a:ext cx="3246120" cy="3566160"/>
          </a:xfrm>
          <a:prstGeom prst="roundRect">
            <a:avLst>
              <a:gd name="adj" fmla="val 2254"/>
            </a:avLst>
          </a:prstGeom>
          <a:solidFill>
            <a:srgbClr val="F4F6FC"/>
          </a:solidFill>
          <a:ln w="12700">
            <a:solidFill>
              <a:srgbClr val="E2E7F5"/>
            </a:solidFill>
            <a:prstDash val="solid"/>
          </a:ln>
        </p:spPr>
      </p:sp>
      <p:sp>
        <p:nvSpPr>
          <p:cNvPr id="5" name="Text 3"/>
          <p:cNvSpPr txBox="1"/>
          <p:nvPr/>
        </p:nvSpPr>
        <p:spPr>
          <a:xfrm>
            <a:off x="914400" y="2194560"/>
            <a:ext cx="2697480" cy="457200"/>
          </a:xfrm>
          <a:prstGeom prst="rect">
            <a:avLst/>
          </a:prstGeom>
          <a:noFill/>
          <a:ln/>
        </p:spPr>
        <p:txBody>
          <a:bodyPr wrap="square" rtlCol="0" anchor="ctr"/>
          <a:lstStyle/>
          <a:p>
            <a:pPr marL="0" indent="0">
              <a:buNone/>
            </a:pPr>
            <a:r>
              <a:rPr lang="en-US" sz="1800" b="1" dirty="0">
                <a:solidFill>
                  <a:srgbClr val="1E2761"/>
                </a:solidFill>
                <a:latin typeface="Cambria" pitchFamily="34" charset="0"/>
                <a:ea typeface="Cambria" pitchFamily="34" charset="-122"/>
                <a:cs typeface="Cambria" pitchFamily="34" charset="-120"/>
              </a:rPr>
              <a:t>Pageviews</a:t>
            </a:r>
            <a:endParaRPr lang="en-US" sz="1800" dirty="0"/>
          </a:p>
        </p:txBody>
      </p:sp>
      <p:sp>
        <p:nvSpPr>
          <p:cNvPr id="6" name="Text 4"/>
          <p:cNvSpPr txBox="1"/>
          <p:nvPr/>
        </p:nvSpPr>
        <p:spPr>
          <a:xfrm>
            <a:off x="914400" y="2743200"/>
            <a:ext cx="2697480" cy="1463040"/>
          </a:xfrm>
          <a:prstGeom prst="rect">
            <a:avLst/>
          </a:prstGeom>
          <a:noFill/>
          <a:ln/>
        </p:spPr>
        <p:txBody>
          <a:bodyPr wrap="square" rtlCol="0" anchor="ctr"/>
          <a:lstStyle/>
          <a:p>
            <a:pPr marL="0" indent="0">
              <a:lnSpc>
                <a:spcPct val="130000"/>
              </a:lnSpc>
              <a:buNone/>
            </a:pPr>
            <a:r>
              <a:rPr lang="en-US" sz="1300" dirty="0">
                <a:solidFill>
                  <a:srgbClr val="444444"/>
                </a:solidFill>
                <a:latin typeface="Calibri" pitchFamily="34" charset="0"/>
                <a:ea typeface="Calibri" pitchFamily="34" charset="-122"/>
                <a:cs typeface="Calibri" pitchFamily="34" charset="-120"/>
              </a:rPr>
              <a:t>pagecounts-raw (2009)</a:t>
            </a:r>
            <a:endParaRPr lang="en-US" sz="1300" dirty="0"/>
          </a:p>
          <a:p>
            <a:pPr marL="0" indent="0">
              <a:lnSpc>
                <a:spcPct val="130000"/>
              </a:lnSpc>
              <a:buNone/>
            </a:pPr>
            <a:r>
              <a:rPr lang="en-US" sz="1300" dirty="0">
                <a:solidFill>
                  <a:srgbClr val="444444"/>
                </a:solidFill>
                <a:latin typeface="Calibri" pitchFamily="34" charset="0"/>
                <a:ea typeface="Calibri" pitchFamily="34" charset="-122"/>
                <a:cs typeface="Calibri" pitchFamily="34" charset="-120"/>
              </a:rPr>
              <a:t>+ Pageviews REST API (2015-2026)</a:t>
            </a:r>
            <a:endParaRPr lang="en-US" sz="1300" dirty="0"/>
          </a:p>
        </p:txBody>
      </p:sp>
      <p:sp>
        <p:nvSpPr>
          <p:cNvPr id="7" name="Shape 5"/>
          <p:cNvSpPr/>
          <p:nvPr/>
        </p:nvSpPr>
        <p:spPr>
          <a:xfrm>
            <a:off x="914400" y="4297680"/>
            <a:ext cx="2697480" cy="0"/>
          </a:xfrm>
          <a:prstGeom prst="line">
            <a:avLst/>
          </a:prstGeom>
          <a:noFill/>
          <a:ln w="12700">
            <a:solidFill>
              <a:srgbClr val="D8DEF0"/>
            </a:solidFill>
            <a:prstDash val="solid"/>
          </a:ln>
        </p:spPr>
      </p:sp>
      <p:sp>
        <p:nvSpPr>
          <p:cNvPr id="8" name="Text 6"/>
          <p:cNvSpPr txBox="1"/>
          <p:nvPr/>
        </p:nvSpPr>
        <p:spPr>
          <a:xfrm>
            <a:off x="914400" y="4480560"/>
            <a:ext cx="2697480" cy="731520"/>
          </a:xfrm>
          <a:prstGeom prst="rect">
            <a:avLst/>
          </a:prstGeom>
          <a:noFill/>
          <a:ln/>
        </p:spPr>
        <p:txBody>
          <a:bodyPr wrap="square" rtlCol="0" anchor="ctr"/>
          <a:lstStyle/>
          <a:p>
            <a:pPr marL="0" indent="0">
              <a:buNone/>
            </a:pPr>
            <a:r>
              <a:rPr lang="en-US" sz="1500" b="1" dirty="0">
                <a:solidFill>
                  <a:srgbClr val="D64550"/>
                </a:solidFill>
                <a:latin typeface="Calibri" pitchFamily="34" charset="0"/>
                <a:ea typeface="Calibri" pitchFamily="34" charset="-122"/>
                <a:cs typeface="Calibri" pitchFamily="34" charset="-120"/>
              </a:rPr>
              <a:t>4,091 daily data points</a:t>
            </a:r>
            <a:endParaRPr lang="en-US" sz="1500" dirty="0"/>
          </a:p>
        </p:txBody>
      </p:sp>
      <p:sp>
        <p:nvSpPr>
          <p:cNvPr id="9" name="Shape 7"/>
          <p:cNvSpPr/>
          <p:nvPr/>
        </p:nvSpPr>
        <p:spPr>
          <a:xfrm>
            <a:off x="4160520" y="1920240"/>
            <a:ext cx="3246120" cy="3566160"/>
          </a:xfrm>
          <a:prstGeom prst="roundRect">
            <a:avLst>
              <a:gd name="adj" fmla="val 2254"/>
            </a:avLst>
          </a:prstGeom>
          <a:solidFill>
            <a:srgbClr val="F4F6FC"/>
          </a:solidFill>
          <a:ln w="12700">
            <a:solidFill>
              <a:srgbClr val="E2E7F5"/>
            </a:solidFill>
            <a:prstDash val="solid"/>
          </a:ln>
        </p:spPr>
      </p:sp>
      <p:sp>
        <p:nvSpPr>
          <p:cNvPr id="10" name="Text 8"/>
          <p:cNvSpPr txBox="1"/>
          <p:nvPr/>
        </p:nvSpPr>
        <p:spPr>
          <a:xfrm>
            <a:off x="4434840" y="2194560"/>
            <a:ext cx="2697480" cy="457200"/>
          </a:xfrm>
          <a:prstGeom prst="rect">
            <a:avLst/>
          </a:prstGeom>
          <a:noFill/>
          <a:ln/>
        </p:spPr>
        <p:txBody>
          <a:bodyPr wrap="square" rtlCol="0" anchor="ctr"/>
          <a:lstStyle/>
          <a:p>
            <a:pPr marL="0" indent="0">
              <a:buNone/>
            </a:pPr>
            <a:r>
              <a:rPr lang="en-US" sz="1800" b="1" dirty="0">
                <a:solidFill>
                  <a:srgbClr val="1E2761"/>
                </a:solidFill>
                <a:latin typeface="Cambria" pitchFamily="34" charset="0"/>
                <a:ea typeface="Cambria" pitchFamily="34" charset="-122"/>
                <a:cs typeface="Cambria" pitchFamily="34" charset="-120"/>
              </a:rPr>
              <a:t>Edits</a:t>
            </a:r>
            <a:endParaRPr lang="en-US" sz="1800" dirty="0"/>
          </a:p>
        </p:txBody>
      </p:sp>
      <p:sp>
        <p:nvSpPr>
          <p:cNvPr id="11" name="Text 9"/>
          <p:cNvSpPr txBox="1"/>
          <p:nvPr/>
        </p:nvSpPr>
        <p:spPr>
          <a:xfrm>
            <a:off x="4434840" y="2743200"/>
            <a:ext cx="2697480" cy="1463040"/>
          </a:xfrm>
          <a:prstGeom prst="rect">
            <a:avLst/>
          </a:prstGeom>
          <a:noFill/>
          <a:ln/>
        </p:spPr>
        <p:txBody>
          <a:bodyPr wrap="square" rtlCol="0" anchor="ctr"/>
          <a:lstStyle/>
          <a:p>
            <a:pPr marL="0" indent="0">
              <a:lnSpc>
                <a:spcPct val="130000"/>
              </a:lnSpc>
              <a:buNone/>
            </a:pPr>
            <a:r>
              <a:rPr lang="en-US" sz="1300" dirty="0">
                <a:solidFill>
                  <a:srgbClr val="444444"/>
                </a:solidFill>
                <a:latin typeface="Calibri" pitchFamily="34" charset="0"/>
                <a:ea typeface="Calibri" pitchFamily="34" charset="-122"/>
                <a:cs typeface="Calibri" pitchFamily="34" charset="-120"/>
              </a:rPr>
              <a:t>MediaWiki Action API</a:t>
            </a:r>
            <a:endParaRPr lang="en-US" sz="1300" dirty="0"/>
          </a:p>
          <a:p>
            <a:pPr marL="0" indent="0">
              <a:lnSpc>
                <a:spcPct val="130000"/>
              </a:lnSpc>
              <a:buNone/>
            </a:pPr>
            <a:r>
              <a:rPr lang="en-US" sz="1300" dirty="0">
                <a:solidFill>
                  <a:srgbClr val="444444"/>
                </a:solidFill>
                <a:latin typeface="Calibri" pitchFamily="34" charset="0"/>
                <a:ea typeface="Calibri" pitchFamily="34" charset="-122"/>
                <a:cs typeface="Calibri" pitchFamily="34" charset="-120"/>
              </a:rPr>
              <a:t>prop=revisions, 2001-2026</a:t>
            </a:r>
            <a:endParaRPr lang="en-US" sz="1300" dirty="0"/>
          </a:p>
        </p:txBody>
      </p:sp>
      <p:sp>
        <p:nvSpPr>
          <p:cNvPr id="12" name="Shape 10"/>
          <p:cNvSpPr/>
          <p:nvPr/>
        </p:nvSpPr>
        <p:spPr>
          <a:xfrm>
            <a:off x="4434840" y="4297680"/>
            <a:ext cx="2697480" cy="0"/>
          </a:xfrm>
          <a:prstGeom prst="line">
            <a:avLst/>
          </a:prstGeom>
          <a:noFill/>
          <a:ln w="12700">
            <a:solidFill>
              <a:srgbClr val="D8DEF0"/>
            </a:solidFill>
            <a:prstDash val="solid"/>
          </a:ln>
        </p:spPr>
      </p:sp>
      <p:sp>
        <p:nvSpPr>
          <p:cNvPr id="13" name="Text 11"/>
          <p:cNvSpPr txBox="1"/>
          <p:nvPr/>
        </p:nvSpPr>
        <p:spPr>
          <a:xfrm>
            <a:off x="4434840" y="4480560"/>
            <a:ext cx="2697480" cy="731520"/>
          </a:xfrm>
          <a:prstGeom prst="rect">
            <a:avLst/>
          </a:prstGeom>
          <a:noFill/>
          <a:ln/>
        </p:spPr>
        <p:txBody>
          <a:bodyPr wrap="square" rtlCol="0" anchor="ctr"/>
          <a:lstStyle/>
          <a:p>
            <a:pPr marL="0" indent="0">
              <a:buNone/>
            </a:pPr>
            <a:r>
              <a:rPr lang="en-US" sz="1500" b="1" dirty="0">
                <a:solidFill>
                  <a:srgbClr val="D64550"/>
                </a:solidFill>
                <a:latin typeface="Calibri" pitchFamily="34" charset="0"/>
                <a:ea typeface="Calibri" pitchFamily="34" charset="-122"/>
                <a:cs typeface="Calibri" pitchFamily="34" charset="-120"/>
              </a:rPr>
              <a:t>33,893 revisions</a:t>
            </a:r>
            <a:endParaRPr lang="en-US" sz="1500" dirty="0"/>
          </a:p>
        </p:txBody>
      </p:sp>
      <p:sp>
        <p:nvSpPr>
          <p:cNvPr id="14" name="Shape 12"/>
          <p:cNvSpPr/>
          <p:nvPr/>
        </p:nvSpPr>
        <p:spPr>
          <a:xfrm>
            <a:off x="7680960" y="1920240"/>
            <a:ext cx="3246120" cy="3566160"/>
          </a:xfrm>
          <a:prstGeom prst="roundRect">
            <a:avLst>
              <a:gd name="adj" fmla="val 2254"/>
            </a:avLst>
          </a:prstGeom>
          <a:solidFill>
            <a:srgbClr val="F4F6FC"/>
          </a:solidFill>
          <a:ln w="12700">
            <a:solidFill>
              <a:srgbClr val="E2E7F5"/>
            </a:solidFill>
            <a:prstDash val="solid"/>
          </a:ln>
        </p:spPr>
      </p:sp>
      <p:sp>
        <p:nvSpPr>
          <p:cNvPr id="15" name="Text 13"/>
          <p:cNvSpPr txBox="1"/>
          <p:nvPr/>
        </p:nvSpPr>
        <p:spPr>
          <a:xfrm>
            <a:off x="7955280" y="2194560"/>
            <a:ext cx="2697480" cy="457200"/>
          </a:xfrm>
          <a:prstGeom prst="rect">
            <a:avLst/>
          </a:prstGeom>
          <a:noFill/>
          <a:ln/>
        </p:spPr>
        <p:txBody>
          <a:bodyPr wrap="square" rtlCol="0" anchor="ctr"/>
          <a:lstStyle/>
          <a:p>
            <a:pPr marL="0" indent="0">
              <a:buNone/>
            </a:pPr>
            <a:r>
              <a:rPr lang="en-US" sz="1800" b="1" dirty="0">
                <a:solidFill>
                  <a:srgbClr val="1E2761"/>
                </a:solidFill>
                <a:latin typeface="Cambria" pitchFamily="34" charset="0"/>
                <a:ea typeface="Cambria" pitchFamily="34" charset="-122"/>
                <a:cs typeface="Cambria" pitchFamily="34" charset="-120"/>
              </a:rPr>
              <a:t>Method</a:t>
            </a:r>
            <a:endParaRPr lang="en-US" sz="1800" dirty="0"/>
          </a:p>
        </p:txBody>
      </p:sp>
      <p:sp>
        <p:nvSpPr>
          <p:cNvPr id="16" name="Text 14"/>
          <p:cNvSpPr txBox="1"/>
          <p:nvPr/>
        </p:nvSpPr>
        <p:spPr>
          <a:xfrm>
            <a:off x="7955280" y="2743200"/>
            <a:ext cx="2697480" cy="1463040"/>
          </a:xfrm>
          <a:prstGeom prst="rect">
            <a:avLst/>
          </a:prstGeom>
          <a:noFill/>
          <a:ln/>
        </p:spPr>
        <p:txBody>
          <a:bodyPr wrap="square" rtlCol="0" anchor="ctr"/>
          <a:lstStyle/>
          <a:p>
            <a:pPr marL="0" indent="0">
              <a:lnSpc>
                <a:spcPct val="130000"/>
              </a:lnSpc>
              <a:buNone/>
            </a:pPr>
            <a:r>
              <a:rPr lang="en-US" sz="1300" dirty="0">
                <a:solidFill>
                  <a:srgbClr val="444444"/>
                </a:solidFill>
                <a:latin typeface="Calibri" pitchFamily="34" charset="0"/>
                <a:ea typeface="Calibri" pitchFamily="34" charset="-122"/>
                <a:cs typeface="Calibri" pitchFamily="34" charset="-120"/>
              </a:rPr>
              <a:t>Michel's half-life:</a:t>
            </a:r>
            <a:endParaRPr lang="en-US" sz="1300" dirty="0"/>
          </a:p>
          <a:p>
            <a:pPr marL="0" indent="0">
              <a:lnSpc>
                <a:spcPct val="130000"/>
              </a:lnSpc>
              <a:buNone/>
            </a:pPr>
            <a:r>
              <a:rPr lang="en-US" sz="1300" dirty="0">
                <a:solidFill>
                  <a:srgbClr val="444444"/>
                </a:solidFill>
                <a:latin typeface="Calibri" pitchFamily="34" charset="0"/>
                <a:ea typeface="Calibri" pitchFamily="34" charset="-122"/>
                <a:cs typeface="Calibri" pitchFamily="34" charset="-120"/>
              </a:rPr>
              <a:t>peak - first day below half</a:t>
            </a:r>
            <a:endParaRPr lang="en-US" sz="1300" dirty="0"/>
          </a:p>
        </p:txBody>
      </p:sp>
      <p:sp>
        <p:nvSpPr>
          <p:cNvPr id="17" name="Shape 15"/>
          <p:cNvSpPr/>
          <p:nvPr/>
        </p:nvSpPr>
        <p:spPr>
          <a:xfrm>
            <a:off x="7955280" y="4297680"/>
            <a:ext cx="2697480" cy="0"/>
          </a:xfrm>
          <a:prstGeom prst="line">
            <a:avLst/>
          </a:prstGeom>
          <a:noFill/>
          <a:ln w="12700">
            <a:solidFill>
              <a:srgbClr val="D8DEF0"/>
            </a:solidFill>
            <a:prstDash val="solid"/>
          </a:ln>
        </p:spPr>
      </p:sp>
      <p:sp>
        <p:nvSpPr>
          <p:cNvPr id="18" name="Text 16"/>
          <p:cNvSpPr txBox="1"/>
          <p:nvPr/>
        </p:nvSpPr>
        <p:spPr>
          <a:xfrm>
            <a:off x="7955280" y="4480560"/>
            <a:ext cx="2697480" cy="731520"/>
          </a:xfrm>
          <a:prstGeom prst="rect">
            <a:avLst/>
          </a:prstGeom>
          <a:noFill/>
          <a:ln/>
        </p:spPr>
        <p:txBody>
          <a:bodyPr wrap="square" rtlCol="0" anchor="ctr"/>
          <a:lstStyle/>
          <a:p>
            <a:pPr marL="0" indent="0">
              <a:buNone/>
            </a:pPr>
            <a:r>
              <a:rPr lang="en-US" sz="1500" b="1" dirty="0">
                <a:solidFill>
                  <a:srgbClr val="D64550"/>
                </a:solidFill>
                <a:latin typeface="Calibri" pitchFamily="34" charset="0"/>
                <a:ea typeface="Calibri" pitchFamily="34" charset="-122"/>
                <a:cs typeface="Calibri" pitchFamily="34" charset="-120"/>
              </a:rPr>
              <a:t>No curve fitting</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365760"/>
          </a:xfrm>
          <a:prstGeom prst="rect">
            <a:avLst/>
          </a:prstGeom>
          <a:noFill/>
          <a:ln/>
        </p:spPr>
        <p:txBody>
          <a:bodyPr wrap="square" rtlCol="0" anchor="ctr"/>
          <a:lstStyle/>
          <a:p>
            <a:pPr marL="0" indent="0">
              <a:buNone/>
            </a:pPr>
            <a:r>
              <a:rPr lang="en-US" sz="1300" b="1" kern="0" spc="200" dirty="0">
                <a:solidFill>
                  <a:srgbClr val="D64550"/>
                </a:solidFill>
                <a:latin typeface="Calibri" pitchFamily="34" charset="0"/>
                <a:ea typeface="Calibri" pitchFamily="34" charset="-122"/>
                <a:cs typeface="Calibri" pitchFamily="34" charset="-120"/>
              </a:rPr>
              <a:t>LAYER 1  DESCRIPTIVE</a:t>
            </a:r>
            <a:endParaRPr lang="en-US" sz="1300" dirty="0"/>
          </a:p>
        </p:txBody>
      </p:sp>
      <p:sp>
        <p:nvSpPr>
          <p:cNvPr id="3" name="Text 1"/>
          <p:cNvSpPr txBox="1"/>
          <p:nvPr/>
        </p:nvSpPr>
        <p:spPr>
          <a:xfrm>
            <a:off x="640080" y="777240"/>
            <a:ext cx="10881360" cy="82296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The Overall Picture</a:t>
            </a:r>
            <a:endParaRPr lang="en-US" sz="3200" dirty="0"/>
          </a:p>
        </p:txBody>
      </p:sp>
      <p:pic>
        <p:nvPicPr>
          <p:cNvPr id="4" name="Image 0" descr="general_layer_en.png"/>
          <p:cNvPicPr>
            <a:picLocks noChangeAspect="1"/>
          </p:cNvPicPr>
          <p:nvPr/>
        </p:nvPicPr>
        <p:blipFill>
          <a:blip r:embed="rId3"/>
          <a:stretch>
            <a:fillRect/>
          </a:stretch>
        </p:blipFill>
        <p:spPr>
          <a:xfrm>
            <a:off x="548640" y="1737360"/>
            <a:ext cx="7315200" cy="4892040"/>
          </a:xfrm>
          <a:prstGeom prst="rect">
            <a:avLst/>
          </a:prstGeom>
        </p:spPr>
      </p:pic>
      <p:sp>
        <p:nvSpPr>
          <p:cNvPr id="5" name="Text 2"/>
          <p:cNvSpPr txBox="1"/>
          <p:nvPr/>
        </p:nvSpPr>
        <p:spPr>
          <a:xfrm>
            <a:off x="8138160" y="2011680"/>
            <a:ext cx="3566160" cy="1188720"/>
          </a:xfrm>
          <a:prstGeom prst="rect">
            <a:avLst/>
          </a:prstGeom>
          <a:noFill/>
          <a:ln/>
        </p:spPr>
        <p:txBody>
          <a:bodyPr wrap="square" rtlCol="0" anchor="ctr"/>
          <a:lstStyle/>
          <a:p>
            <a:pPr marL="0" indent="0">
              <a:buNone/>
            </a:pPr>
            <a:r>
              <a:rPr lang="en-US" sz="1400" dirty="0">
                <a:solidFill>
                  <a:srgbClr val="333333"/>
                </a:solidFill>
                <a:latin typeface="Calibri" pitchFamily="34" charset="0"/>
                <a:ea typeface="Calibri" pitchFamily="34" charset="-122"/>
                <a:cs typeface="Calibri" pitchFamily="34" charset="-120"/>
              </a:rPr>
              <a:t>All three signals mark the same moment, 25 June 2009, but behave very differently afterwards.</a:t>
            </a:r>
            <a:endParaRPr lang="en-US" sz="1400" dirty="0"/>
          </a:p>
        </p:txBody>
      </p:sp>
      <p:sp>
        <p:nvSpPr>
          <p:cNvPr id="6" name="Text 3"/>
          <p:cNvSpPr txBox="1"/>
          <p:nvPr/>
        </p:nvSpPr>
        <p:spPr>
          <a:xfrm>
            <a:off x="8138160" y="3383280"/>
            <a:ext cx="3566160" cy="32004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Pageviews</a:t>
            </a:r>
            <a:endParaRPr lang="en-US" sz="1300" dirty="0"/>
          </a:p>
        </p:txBody>
      </p:sp>
      <p:sp>
        <p:nvSpPr>
          <p:cNvPr id="7" name="Text 4"/>
          <p:cNvSpPr txBox="1"/>
          <p:nvPr/>
        </p:nvSpPr>
        <p:spPr>
          <a:xfrm>
            <a:off x="8138160" y="3675888"/>
            <a:ext cx="3566160" cy="365760"/>
          </a:xfrm>
          <a:prstGeom prst="rect">
            <a:avLst/>
          </a:prstGeom>
          <a:noFill/>
          <a:ln/>
        </p:spPr>
        <p:txBody>
          <a:bodyPr wrap="square" rtlCol="0" anchor="ctr"/>
          <a:lstStyle/>
          <a:p>
            <a:pPr marL="0" indent="0">
              <a:buNone/>
            </a:pPr>
            <a:r>
              <a:rPr lang="en-US" sz="1300" dirty="0">
                <a:solidFill>
                  <a:srgbClr val="555555"/>
                </a:solidFill>
                <a:latin typeface="Calibri" pitchFamily="34" charset="0"/>
                <a:ea typeface="Calibri" pitchFamily="34" charset="-122"/>
                <a:cs typeface="Calibri" pitchFamily="34" charset="-120"/>
              </a:rPr>
              <a:t>12,747 to 4,972,223 in one day</a:t>
            </a:r>
            <a:endParaRPr lang="en-US" sz="1300" dirty="0"/>
          </a:p>
        </p:txBody>
      </p:sp>
      <p:sp>
        <p:nvSpPr>
          <p:cNvPr id="8" name="Text 5"/>
          <p:cNvSpPr txBox="1"/>
          <p:nvPr/>
        </p:nvSpPr>
        <p:spPr>
          <a:xfrm>
            <a:off x="8138160" y="4160520"/>
            <a:ext cx="3566160" cy="32004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Edits</a:t>
            </a:r>
            <a:endParaRPr lang="en-US" sz="1300" dirty="0"/>
          </a:p>
        </p:txBody>
      </p:sp>
      <p:sp>
        <p:nvSpPr>
          <p:cNvPr id="9" name="Text 6"/>
          <p:cNvSpPr txBox="1"/>
          <p:nvPr/>
        </p:nvSpPr>
        <p:spPr>
          <a:xfrm>
            <a:off x="8138160" y="4453128"/>
            <a:ext cx="3566160" cy="365760"/>
          </a:xfrm>
          <a:prstGeom prst="rect">
            <a:avLst/>
          </a:prstGeom>
          <a:noFill/>
          <a:ln/>
        </p:spPr>
        <p:txBody>
          <a:bodyPr wrap="square" rtlCol="0" anchor="ctr"/>
          <a:lstStyle/>
          <a:p>
            <a:pPr marL="0" indent="0">
              <a:buNone/>
            </a:pPr>
            <a:r>
              <a:rPr lang="en-US" sz="1300" dirty="0">
                <a:solidFill>
                  <a:srgbClr val="555555"/>
                </a:solidFill>
                <a:latin typeface="Calibri" pitchFamily="34" charset="0"/>
                <a:ea typeface="Calibri" pitchFamily="34" charset="-122"/>
                <a:cs typeface="Calibri" pitchFamily="34" charset="-120"/>
              </a:rPr>
              <a:t>5 to 642 per day</a:t>
            </a:r>
            <a:endParaRPr lang="en-US" sz="1300" dirty="0"/>
          </a:p>
        </p:txBody>
      </p:sp>
      <p:sp>
        <p:nvSpPr>
          <p:cNvPr id="10" name="Text 7"/>
          <p:cNvSpPr txBox="1"/>
          <p:nvPr/>
        </p:nvSpPr>
        <p:spPr>
          <a:xfrm>
            <a:off x="8138160" y="4937760"/>
            <a:ext cx="3566160" cy="32004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Article size</a:t>
            </a:r>
            <a:endParaRPr lang="en-US" sz="1300" dirty="0"/>
          </a:p>
        </p:txBody>
      </p:sp>
      <p:sp>
        <p:nvSpPr>
          <p:cNvPr id="11" name="Text 8"/>
          <p:cNvSpPr txBox="1"/>
          <p:nvPr/>
        </p:nvSpPr>
        <p:spPr>
          <a:xfrm>
            <a:off x="8138160" y="5230368"/>
            <a:ext cx="3566160" cy="365760"/>
          </a:xfrm>
          <a:prstGeom prst="rect">
            <a:avLst/>
          </a:prstGeom>
          <a:noFill/>
          <a:ln/>
        </p:spPr>
        <p:txBody>
          <a:bodyPr wrap="square" rtlCol="0" anchor="ctr"/>
          <a:lstStyle/>
          <a:p>
            <a:pPr marL="0" indent="0">
              <a:buNone/>
            </a:pPr>
            <a:r>
              <a:rPr lang="en-US" sz="1300" dirty="0">
                <a:solidFill>
                  <a:srgbClr val="555555"/>
                </a:solidFill>
                <a:latin typeface="Calibri" pitchFamily="34" charset="0"/>
                <a:ea typeface="Calibri" pitchFamily="34" charset="-122"/>
                <a:cs typeface="Calibri" pitchFamily="34" charset="-120"/>
              </a:rPr>
              <a:t>never returns to baseline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365760"/>
          </a:xfrm>
          <a:prstGeom prst="rect">
            <a:avLst/>
          </a:prstGeom>
          <a:noFill/>
          <a:ln/>
        </p:spPr>
        <p:txBody>
          <a:bodyPr wrap="square" rtlCol="0" anchor="ctr"/>
          <a:lstStyle/>
          <a:p>
            <a:pPr marL="0" indent="0">
              <a:buNone/>
            </a:pPr>
            <a:r>
              <a:rPr lang="en-US" sz="1300" b="1" kern="0" spc="200" dirty="0">
                <a:solidFill>
                  <a:srgbClr val="D64550"/>
                </a:solidFill>
                <a:latin typeface="Calibri" pitchFamily="34" charset="0"/>
                <a:ea typeface="Calibri" pitchFamily="34" charset="-122"/>
                <a:cs typeface="Calibri" pitchFamily="34" charset="-120"/>
              </a:rPr>
              <a:t>LAYER 2  AUDIENCE INTEREST DROP</a:t>
            </a:r>
            <a:endParaRPr lang="en-US" sz="1300" dirty="0"/>
          </a:p>
        </p:txBody>
      </p:sp>
      <p:sp>
        <p:nvSpPr>
          <p:cNvPr id="3" name="Text 1"/>
          <p:cNvSpPr txBox="1"/>
          <p:nvPr/>
        </p:nvSpPr>
        <p:spPr>
          <a:xfrm>
            <a:off x="640080" y="777240"/>
            <a:ext cx="10881360" cy="82296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How Fast Attention Faded</a:t>
            </a:r>
            <a:endParaRPr lang="en-US" sz="3200" dirty="0"/>
          </a:p>
        </p:txBody>
      </p:sp>
      <p:pic>
        <p:nvPicPr>
          <p:cNvPr id="4" name="Image 0" descr="layer2_en.png"/>
          <p:cNvPicPr>
            <a:picLocks noChangeAspect="1"/>
          </p:cNvPicPr>
          <p:nvPr/>
        </p:nvPicPr>
        <p:blipFill>
          <a:blip r:embed="rId3"/>
          <a:stretch>
            <a:fillRect/>
          </a:stretch>
        </p:blipFill>
        <p:spPr>
          <a:xfrm>
            <a:off x="548640" y="2011680"/>
            <a:ext cx="6949440" cy="3566160"/>
          </a:xfrm>
          <a:prstGeom prst="rect">
            <a:avLst/>
          </a:prstGeom>
        </p:spPr>
      </p:pic>
      <p:sp>
        <p:nvSpPr>
          <p:cNvPr id="5" name="Shape 2"/>
          <p:cNvSpPr/>
          <p:nvPr/>
        </p:nvSpPr>
        <p:spPr>
          <a:xfrm>
            <a:off x="7863840" y="2011680"/>
            <a:ext cx="3749040" cy="1828800"/>
          </a:xfrm>
          <a:prstGeom prst="roundRect">
            <a:avLst>
              <a:gd name="adj" fmla="val 5000"/>
            </a:avLst>
          </a:prstGeom>
          <a:solidFill>
            <a:srgbClr val="1E2761"/>
          </a:solidFill>
          <a:ln/>
        </p:spPr>
      </p:sp>
      <p:sp>
        <p:nvSpPr>
          <p:cNvPr id="6" name="Text 3"/>
          <p:cNvSpPr txBox="1"/>
          <p:nvPr/>
        </p:nvSpPr>
        <p:spPr>
          <a:xfrm>
            <a:off x="7863840" y="2148840"/>
            <a:ext cx="3749040" cy="914400"/>
          </a:xfrm>
          <a:prstGeom prst="rect">
            <a:avLst/>
          </a:prstGeom>
          <a:noFill/>
          <a:ln/>
        </p:spPr>
        <p:txBody>
          <a:bodyPr wrap="square" rtlCol="0" anchor="ctr"/>
          <a:lstStyle/>
          <a:p>
            <a:pPr marL="0" indent="0" algn="ctr">
              <a:buNone/>
            </a:pPr>
            <a:r>
              <a:rPr lang="en-US" sz="6000" b="1" dirty="0">
                <a:solidFill>
                  <a:srgbClr val="FFFFFF"/>
                </a:solidFill>
                <a:latin typeface="Cambria" pitchFamily="34" charset="0"/>
                <a:ea typeface="Cambria" pitchFamily="34" charset="-122"/>
                <a:cs typeface="Cambria" pitchFamily="34" charset="-120"/>
              </a:rPr>
              <a:t>1</a:t>
            </a:r>
            <a:endParaRPr lang="en-US" sz="6000" dirty="0"/>
          </a:p>
        </p:txBody>
      </p:sp>
      <p:sp>
        <p:nvSpPr>
          <p:cNvPr id="7" name="Text 4"/>
          <p:cNvSpPr txBox="1"/>
          <p:nvPr/>
        </p:nvSpPr>
        <p:spPr>
          <a:xfrm>
            <a:off x="7863840" y="3063240"/>
            <a:ext cx="3749040" cy="548640"/>
          </a:xfrm>
          <a:prstGeom prst="rect">
            <a:avLst/>
          </a:prstGeom>
          <a:noFill/>
          <a:ln/>
        </p:spPr>
        <p:txBody>
          <a:bodyPr wrap="square" rtlCol="0" anchor="ctr"/>
          <a:lstStyle/>
          <a:p>
            <a:pPr marL="0" indent="0" algn="ctr">
              <a:buNone/>
            </a:pPr>
            <a:r>
              <a:rPr lang="en-US" sz="1400" dirty="0">
                <a:solidFill>
                  <a:srgbClr val="CADCFC"/>
                </a:solidFill>
                <a:latin typeface="Calibri" pitchFamily="34" charset="0"/>
                <a:ea typeface="Calibri" pitchFamily="34" charset="-122"/>
                <a:cs typeface="Calibri" pitchFamily="34" charset="-120"/>
              </a:rPr>
              <a:t>day to reach half of peak</a:t>
            </a:r>
            <a:endParaRPr lang="en-US" sz="1400" dirty="0"/>
          </a:p>
        </p:txBody>
      </p:sp>
      <p:sp>
        <p:nvSpPr>
          <p:cNvPr id="8" name="Text 5"/>
          <p:cNvSpPr txBox="1"/>
          <p:nvPr/>
        </p:nvSpPr>
        <p:spPr>
          <a:xfrm>
            <a:off x="7863840" y="4114800"/>
            <a:ext cx="3749040" cy="1463040"/>
          </a:xfrm>
          <a:prstGeom prst="rect">
            <a:avLst/>
          </a:prstGeom>
          <a:noFill/>
          <a:ln/>
        </p:spPr>
        <p:txBody>
          <a:bodyPr wrap="square" rtlCol="0" anchor="ctr"/>
          <a:lstStyle/>
          <a:p>
            <a:pPr marL="0" indent="0">
              <a:buNone/>
            </a:pPr>
            <a:r>
              <a:rPr lang="en-US" sz="1300" i="1" dirty="0">
                <a:solidFill>
                  <a:srgbClr val="444444"/>
                </a:solidFill>
                <a:latin typeface="Calibri" pitchFamily="34" charset="0"/>
                <a:ea typeface="Calibri" pitchFamily="34" charset="-122"/>
                <a:cs typeface="Calibri" pitchFamily="34" charset="-120"/>
              </a:rPr>
              <a:t>The acute shock phase ends within a day, but a full return to baseline takes about two weeks.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365760"/>
          </a:xfrm>
          <a:prstGeom prst="rect">
            <a:avLst/>
          </a:prstGeom>
          <a:noFill/>
          <a:ln/>
        </p:spPr>
        <p:txBody>
          <a:bodyPr wrap="square" rtlCol="0" anchor="ctr"/>
          <a:lstStyle/>
          <a:p>
            <a:pPr marL="0" indent="0">
              <a:buNone/>
            </a:pPr>
            <a:r>
              <a:rPr lang="en-US" sz="1300" b="1" kern="0" spc="200" dirty="0">
                <a:solidFill>
                  <a:srgbClr val="D64550"/>
                </a:solidFill>
                <a:latin typeface="Calibri" pitchFamily="34" charset="0"/>
                <a:ea typeface="Calibri" pitchFamily="34" charset="-122"/>
                <a:cs typeface="Calibri" pitchFamily="34" charset="-120"/>
              </a:rPr>
              <a:t>LAYER 3  EVENT COMPARISON</a:t>
            </a:r>
            <a:endParaRPr lang="en-US" sz="1300" dirty="0"/>
          </a:p>
        </p:txBody>
      </p:sp>
      <p:sp>
        <p:nvSpPr>
          <p:cNvPr id="3" name="Text 1"/>
          <p:cNvSpPr txBox="1"/>
          <p:nvPr/>
        </p:nvSpPr>
        <p:spPr>
          <a:xfrm>
            <a:off x="640080" y="777240"/>
            <a:ext cx="10881360" cy="82296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2009 Versus 2026</a:t>
            </a:r>
            <a:endParaRPr lang="en-US" sz="3200" dirty="0"/>
          </a:p>
        </p:txBody>
      </p:sp>
      <p:sp>
        <p:nvSpPr>
          <p:cNvPr id="4" name="Text 2"/>
          <p:cNvSpPr txBox="1"/>
          <p:nvPr/>
        </p:nvSpPr>
        <p:spPr>
          <a:xfrm>
            <a:off x="640080" y="1600200"/>
            <a:ext cx="10881360" cy="365760"/>
          </a:xfrm>
          <a:prstGeom prst="rect">
            <a:avLst/>
          </a:prstGeom>
          <a:noFill/>
          <a:ln/>
        </p:spPr>
        <p:txBody>
          <a:bodyPr wrap="square" rtlCol="0" anchor="ctr"/>
          <a:lstStyle/>
          <a:p>
            <a:pPr marL="0" indent="0">
              <a:buNone/>
            </a:pPr>
            <a:r>
              <a:rPr lang="en-US" sz="1300" i="1" dirty="0">
                <a:solidFill>
                  <a:srgbClr val="5A5A5A"/>
                </a:solidFill>
                <a:latin typeface="Calibri" pitchFamily="34" charset="0"/>
                <a:ea typeface="Calibri" pitchFamily="34" charset="-122"/>
                <a:cs typeface="Calibri" pitchFamily="34" charset="-120"/>
              </a:rPr>
              <a:t>The artist's death and the release of a movie: two attention spikes of a different kind</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2103120"/>
          <a:ext cx="6675120" cy="2377440"/>
        </p:xfrm>
        <a:graphic>
          <a:graphicData uri="http://schemas.openxmlformats.org/drawingml/2006/table">
            <a:tbl>
              <a:tblPr/>
              <a:tblGrid>
                <a:gridCol w="274320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1965960">
                  <a:extLst>
                    <a:ext uri="{9D8B030D-6E8A-4147-A177-3AD203B41FA5}">
                      <a16:colId xmlns:a16="http://schemas.microsoft.com/office/drawing/2014/main" val="20002"/>
                    </a:ext>
                  </a:extLst>
                </a:gridCol>
              </a:tblGrid>
              <a:tr h="594360">
                <a:tc>
                  <a:txBody>
                    <a:bodyPr/>
                    <a:lstStyle/>
                    <a:p>
                      <a:pPr marL="0" indent="0">
                        <a:buNone/>
                      </a:pPr>
                      <a:endParaRPr lang="en-US" sz="1400" dirty="0">
                        <a:latin typeface="Calibri" charset="0"/>
                        <a:ea typeface="Calibri" charset="0"/>
                        <a:cs typeface="Calibri" charset="0"/>
                      </a:endParaRPr>
                    </a:p>
                  </a:txBody>
                  <a:tcPr>
                    <a:lnL w="12700" cap="flat" cmpd="sng" algn="ctr">
                      <a:solidFill>
                        <a:srgbClr val="E2E7F5"/>
                      </a:solidFill>
                      <a:prstDash val="solid"/>
                      <a:round/>
                      <a:headEnd type="none" w="med" len="med"/>
                      <a:tailEnd type="none" w="med" len="med"/>
                    </a:lnL>
                    <a:lnR w="12700" cap="flat" cmpd="sng" algn="ctr">
                      <a:solidFill>
                        <a:srgbClr val="E2E7F5"/>
                      </a:solidFill>
                      <a:prstDash val="solid"/>
                      <a:round/>
                      <a:headEnd type="none" w="med" len="med"/>
                      <a:tailEnd type="none" w="med" len="med"/>
                    </a:lnR>
                    <a:lnT w="12700" cap="flat" cmpd="sng" algn="ctr">
                      <a:solidFill>
                        <a:srgbClr val="E2E7F5"/>
                      </a:solidFill>
                      <a:prstDash val="solid"/>
                      <a:round/>
                      <a:headEnd type="none" w="med" len="med"/>
                      <a:tailEnd type="none" w="med" len="med"/>
                    </a:lnT>
                    <a:lnB w="12700" cap="flat" cmpd="sng" algn="ctr">
                      <a:solidFill>
                        <a:srgbClr val="E2E7F5"/>
                      </a:solidFill>
                      <a:prstDash val="solid"/>
                      <a:round/>
                      <a:headEnd type="none" w="med" len="med"/>
                      <a:tailEnd type="none" w="med" len="med"/>
                    </a:lnB>
                    <a:solidFill>
                      <a:srgbClr val="FFFFFF"/>
                    </a:solidFill>
                  </a:tcPr>
                </a:tc>
                <a:tc>
                  <a:txBody>
                    <a:bodyPr/>
                    <a:lstStyle/>
                    <a:p>
                      <a:pPr marL="0" indent="0">
                        <a:buNone/>
                      </a:pPr>
                      <a:r>
                        <a:rPr lang="en-US" sz="1400" dirty="0">
                          <a:solidFill>
                            <a:srgbClr val="333333"/>
                          </a:solidFill>
                          <a:latin typeface="Calibri" pitchFamily="34" charset="0"/>
                          <a:ea typeface="Calibri" pitchFamily="34" charset="-122"/>
                          <a:cs typeface="Calibri" pitchFamily="34" charset="-120"/>
                        </a:rPr>
                        <a:t>2009 (death)</a:t>
                      </a:r>
                      <a:endParaRPr lang="en-US" sz="1400" dirty="0">
                        <a:latin typeface="Calibri" charset="0"/>
                        <a:ea typeface="Calibri" charset="0"/>
                        <a:cs typeface="Calibri" charset="0"/>
                      </a:endParaRPr>
                    </a:p>
                  </a:txBody>
                  <a:tcPr>
                    <a:lnL w="12700" cap="flat" cmpd="sng" algn="ctr">
                      <a:solidFill>
                        <a:srgbClr val="E2E7F5"/>
                      </a:solidFill>
                      <a:prstDash val="solid"/>
                      <a:round/>
                      <a:headEnd type="none" w="med" len="med"/>
                      <a:tailEnd type="none" w="med" len="med"/>
                    </a:lnL>
                    <a:lnR w="12700" cap="flat" cmpd="sng" algn="ctr">
                      <a:solidFill>
                        <a:srgbClr val="E2E7F5"/>
                      </a:solidFill>
                      <a:prstDash val="solid"/>
                      <a:round/>
                      <a:headEnd type="none" w="med" len="med"/>
                      <a:tailEnd type="none" w="med" len="med"/>
                    </a:lnR>
                    <a:lnT w="12700" cap="flat" cmpd="sng" algn="ctr">
                      <a:solidFill>
                        <a:srgbClr val="E2E7F5"/>
                      </a:solidFill>
                      <a:prstDash val="solid"/>
                      <a:round/>
                      <a:headEnd type="none" w="med" len="med"/>
                      <a:tailEnd type="none" w="med" len="med"/>
                    </a:lnT>
                    <a:lnB w="12700" cap="flat" cmpd="sng" algn="ctr">
                      <a:solidFill>
                        <a:srgbClr val="E2E7F5"/>
                      </a:solidFill>
                      <a:prstDash val="solid"/>
                      <a:round/>
                      <a:headEnd type="none" w="med" len="med"/>
                      <a:tailEnd type="none" w="med" len="med"/>
                    </a:lnB>
                    <a:solidFill>
                      <a:srgbClr val="FFFFFF"/>
                    </a:solidFill>
                  </a:tcPr>
                </a:tc>
                <a:tc>
                  <a:txBody>
                    <a:bodyPr/>
                    <a:lstStyle/>
                    <a:p>
                      <a:pPr marL="0" indent="0">
                        <a:buNone/>
                      </a:pPr>
                      <a:r>
                        <a:rPr lang="en-US" sz="1400" dirty="0">
                          <a:solidFill>
                            <a:srgbClr val="333333"/>
                          </a:solidFill>
                          <a:latin typeface="Calibri" pitchFamily="34" charset="0"/>
                          <a:ea typeface="Calibri" pitchFamily="34" charset="-122"/>
                          <a:cs typeface="Calibri" pitchFamily="34" charset="-120"/>
                        </a:rPr>
                        <a:t>2026 (film)</a:t>
                      </a:r>
                      <a:endParaRPr lang="en-US" sz="1400" dirty="0">
                        <a:latin typeface="Calibri" charset="0"/>
                        <a:ea typeface="Calibri" charset="0"/>
                        <a:cs typeface="Calibri" charset="0"/>
                      </a:endParaRPr>
                    </a:p>
                  </a:txBody>
                  <a:tcPr>
                    <a:lnL w="12700" cap="flat" cmpd="sng" algn="ctr">
                      <a:solidFill>
                        <a:srgbClr val="E2E7F5"/>
                      </a:solidFill>
                      <a:prstDash val="solid"/>
                      <a:round/>
                      <a:headEnd type="none" w="med" len="med"/>
                      <a:tailEnd type="none" w="med" len="med"/>
                    </a:lnL>
                    <a:lnR w="12700" cap="flat" cmpd="sng" algn="ctr">
                      <a:solidFill>
                        <a:srgbClr val="E2E7F5"/>
                      </a:solidFill>
                      <a:prstDash val="solid"/>
                      <a:round/>
                      <a:headEnd type="none" w="med" len="med"/>
                      <a:tailEnd type="none" w="med" len="med"/>
                    </a:lnR>
                    <a:lnT w="12700" cap="flat" cmpd="sng" algn="ctr">
                      <a:solidFill>
                        <a:srgbClr val="E2E7F5"/>
                      </a:solidFill>
                      <a:prstDash val="solid"/>
                      <a:round/>
                      <a:headEnd type="none" w="med" len="med"/>
                      <a:tailEnd type="none" w="med" len="med"/>
                    </a:lnT>
                    <a:lnB w="12700" cap="flat" cmpd="sng" algn="ctr">
                      <a:solidFill>
                        <a:srgbClr val="E2E7F5"/>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94360">
                <a:tc>
                  <a:txBody>
                    <a:bodyPr/>
                    <a:lstStyle/>
                    <a:p>
                      <a:pPr marL="0" indent="0">
                        <a:buNone/>
                      </a:pPr>
                      <a:r>
                        <a:rPr lang="en-US" sz="1400" dirty="0">
                          <a:solidFill>
                            <a:srgbClr val="333333"/>
                          </a:solidFill>
                          <a:latin typeface="Calibri" pitchFamily="34" charset="0"/>
                          <a:ea typeface="Calibri" pitchFamily="34" charset="-122"/>
                          <a:cs typeface="Calibri" pitchFamily="34" charset="-120"/>
                        </a:rPr>
                        <a:t>Peak pageviews</a:t>
                      </a:r>
                      <a:endParaRPr lang="en-US" sz="1400" dirty="0">
                        <a:latin typeface="Calibri" charset="0"/>
                        <a:ea typeface="Calibri" charset="0"/>
                        <a:cs typeface="Calibri" charset="0"/>
                      </a:endParaRPr>
                    </a:p>
                  </a:txBody>
                  <a:tcPr>
                    <a:lnL w="12700" cap="flat" cmpd="sng" algn="ctr">
                      <a:solidFill>
                        <a:srgbClr val="E2E7F5"/>
                      </a:solidFill>
                      <a:prstDash val="solid"/>
                      <a:round/>
                      <a:headEnd type="none" w="med" len="med"/>
                      <a:tailEnd type="none" w="med" len="med"/>
                    </a:lnL>
                    <a:lnR w="12700" cap="flat" cmpd="sng" algn="ctr">
                      <a:solidFill>
                        <a:srgbClr val="E2E7F5"/>
                      </a:solidFill>
                      <a:prstDash val="solid"/>
                      <a:round/>
                      <a:headEnd type="none" w="med" len="med"/>
                      <a:tailEnd type="none" w="med" len="med"/>
                    </a:lnR>
                    <a:lnT w="12700" cap="flat" cmpd="sng" algn="ctr">
                      <a:solidFill>
                        <a:srgbClr val="E2E7F5"/>
                      </a:solidFill>
                      <a:prstDash val="solid"/>
                      <a:round/>
                      <a:headEnd type="none" w="med" len="med"/>
                      <a:tailEnd type="none" w="med" len="med"/>
                    </a:lnT>
                    <a:lnB w="12700" cap="flat" cmpd="sng" algn="ctr">
                      <a:solidFill>
                        <a:srgbClr val="E2E7F5"/>
                      </a:solidFill>
                      <a:prstDash val="solid"/>
                      <a:round/>
                      <a:headEnd type="none" w="med" len="med"/>
                      <a:tailEnd type="none" w="med" len="med"/>
                    </a:lnB>
                    <a:solidFill>
                      <a:srgbClr val="FFFFFF"/>
                    </a:solidFill>
                  </a:tcPr>
                </a:tc>
                <a:tc>
                  <a:txBody>
                    <a:bodyPr/>
                    <a:lstStyle/>
                    <a:p>
                      <a:pPr marL="0" indent="0">
                        <a:buNone/>
                      </a:pPr>
                      <a:r>
                        <a:rPr lang="en-US" sz="1400" dirty="0">
                          <a:solidFill>
                            <a:srgbClr val="333333"/>
                          </a:solidFill>
                          <a:latin typeface="Calibri" pitchFamily="34" charset="0"/>
                          <a:ea typeface="Calibri" pitchFamily="34" charset="-122"/>
                          <a:cs typeface="Calibri" pitchFamily="34" charset="-120"/>
                        </a:rPr>
                        <a:t>4,972,223</a:t>
                      </a:r>
                      <a:endParaRPr lang="en-US" sz="1400" dirty="0">
                        <a:latin typeface="Calibri" charset="0"/>
                        <a:ea typeface="Calibri" charset="0"/>
                        <a:cs typeface="Calibri" charset="0"/>
                      </a:endParaRPr>
                    </a:p>
                  </a:txBody>
                  <a:tcPr>
                    <a:lnL w="12700" cap="flat" cmpd="sng" algn="ctr">
                      <a:solidFill>
                        <a:srgbClr val="E2E7F5"/>
                      </a:solidFill>
                      <a:prstDash val="solid"/>
                      <a:round/>
                      <a:headEnd type="none" w="med" len="med"/>
                      <a:tailEnd type="none" w="med" len="med"/>
                    </a:lnL>
                    <a:lnR w="12700" cap="flat" cmpd="sng" algn="ctr">
                      <a:solidFill>
                        <a:srgbClr val="E2E7F5"/>
                      </a:solidFill>
                      <a:prstDash val="solid"/>
                      <a:round/>
                      <a:headEnd type="none" w="med" len="med"/>
                      <a:tailEnd type="none" w="med" len="med"/>
                    </a:lnR>
                    <a:lnT w="12700" cap="flat" cmpd="sng" algn="ctr">
                      <a:solidFill>
                        <a:srgbClr val="E2E7F5"/>
                      </a:solidFill>
                      <a:prstDash val="solid"/>
                      <a:round/>
                      <a:headEnd type="none" w="med" len="med"/>
                      <a:tailEnd type="none" w="med" len="med"/>
                    </a:lnT>
                    <a:lnB w="12700" cap="flat" cmpd="sng" algn="ctr">
                      <a:solidFill>
                        <a:srgbClr val="E2E7F5"/>
                      </a:solidFill>
                      <a:prstDash val="solid"/>
                      <a:round/>
                      <a:headEnd type="none" w="med" len="med"/>
                      <a:tailEnd type="none" w="med" len="med"/>
                    </a:lnB>
                    <a:solidFill>
                      <a:srgbClr val="FFFFFF"/>
                    </a:solidFill>
                  </a:tcPr>
                </a:tc>
                <a:tc>
                  <a:txBody>
                    <a:bodyPr/>
                    <a:lstStyle/>
                    <a:p>
                      <a:pPr marL="0" indent="0">
                        <a:buNone/>
                      </a:pPr>
                      <a:r>
                        <a:rPr lang="en-US" sz="1400" dirty="0">
                          <a:solidFill>
                            <a:srgbClr val="333333"/>
                          </a:solidFill>
                          <a:latin typeface="Calibri" pitchFamily="34" charset="0"/>
                          <a:ea typeface="Calibri" pitchFamily="34" charset="-122"/>
                          <a:cs typeface="Calibri" pitchFamily="34" charset="-120"/>
                        </a:rPr>
                        <a:t>339,354</a:t>
                      </a:r>
                      <a:endParaRPr lang="en-US" sz="1400" dirty="0">
                        <a:latin typeface="Calibri" charset="0"/>
                        <a:ea typeface="Calibri" charset="0"/>
                        <a:cs typeface="Calibri" charset="0"/>
                      </a:endParaRPr>
                    </a:p>
                  </a:txBody>
                  <a:tcPr>
                    <a:lnL w="12700" cap="flat" cmpd="sng" algn="ctr">
                      <a:solidFill>
                        <a:srgbClr val="E2E7F5"/>
                      </a:solidFill>
                      <a:prstDash val="solid"/>
                      <a:round/>
                      <a:headEnd type="none" w="med" len="med"/>
                      <a:tailEnd type="none" w="med" len="med"/>
                    </a:lnL>
                    <a:lnR w="12700" cap="flat" cmpd="sng" algn="ctr">
                      <a:solidFill>
                        <a:srgbClr val="E2E7F5"/>
                      </a:solidFill>
                      <a:prstDash val="solid"/>
                      <a:round/>
                      <a:headEnd type="none" w="med" len="med"/>
                      <a:tailEnd type="none" w="med" len="med"/>
                    </a:lnR>
                    <a:lnT w="12700" cap="flat" cmpd="sng" algn="ctr">
                      <a:solidFill>
                        <a:srgbClr val="E2E7F5"/>
                      </a:solidFill>
                      <a:prstDash val="solid"/>
                      <a:round/>
                      <a:headEnd type="none" w="med" len="med"/>
                      <a:tailEnd type="none" w="med" len="med"/>
                    </a:lnT>
                    <a:lnB w="12700" cap="flat" cmpd="sng" algn="ctr">
                      <a:solidFill>
                        <a:srgbClr val="E2E7F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94360">
                <a:tc>
                  <a:txBody>
                    <a:bodyPr/>
                    <a:lstStyle/>
                    <a:p>
                      <a:pPr marL="0" indent="0">
                        <a:buNone/>
                      </a:pPr>
                      <a:r>
                        <a:rPr lang="en-US" sz="1400" dirty="0">
                          <a:solidFill>
                            <a:srgbClr val="333333"/>
                          </a:solidFill>
                          <a:latin typeface="Calibri" pitchFamily="34" charset="0"/>
                          <a:ea typeface="Calibri" pitchFamily="34" charset="-122"/>
                          <a:cs typeface="Calibri" pitchFamily="34" charset="-120"/>
                        </a:rPr>
                        <a:t>Edits in window</a:t>
                      </a:r>
                      <a:endParaRPr lang="en-US" sz="1400" dirty="0">
                        <a:latin typeface="Calibri" charset="0"/>
                        <a:ea typeface="Calibri" charset="0"/>
                        <a:cs typeface="Calibri" charset="0"/>
                      </a:endParaRPr>
                    </a:p>
                  </a:txBody>
                  <a:tcPr>
                    <a:lnL w="12700" cap="flat" cmpd="sng" algn="ctr">
                      <a:solidFill>
                        <a:srgbClr val="E2E7F5"/>
                      </a:solidFill>
                      <a:prstDash val="solid"/>
                      <a:round/>
                      <a:headEnd type="none" w="med" len="med"/>
                      <a:tailEnd type="none" w="med" len="med"/>
                    </a:lnL>
                    <a:lnR w="12700" cap="flat" cmpd="sng" algn="ctr">
                      <a:solidFill>
                        <a:srgbClr val="E2E7F5"/>
                      </a:solidFill>
                      <a:prstDash val="solid"/>
                      <a:round/>
                      <a:headEnd type="none" w="med" len="med"/>
                      <a:tailEnd type="none" w="med" len="med"/>
                    </a:lnR>
                    <a:lnT w="12700" cap="flat" cmpd="sng" algn="ctr">
                      <a:solidFill>
                        <a:srgbClr val="E2E7F5"/>
                      </a:solidFill>
                      <a:prstDash val="solid"/>
                      <a:round/>
                      <a:headEnd type="none" w="med" len="med"/>
                      <a:tailEnd type="none" w="med" len="med"/>
                    </a:lnT>
                    <a:lnB w="12700" cap="flat" cmpd="sng" algn="ctr">
                      <a:solidFill>
                        <a:srgbClr val="E2E7F5"/>
                      </a:solidFill>
                      <a:prstDash val="solid"/>
                      <a:round/>
                      <a:headEnd type="none" w="med" len="med"/>
                      <a:tailEnd type="none" w="med" len="med"/>
                    </a:lnB>
                    <a:solidFill>
                      <a:srgbClr val="FFFFFF"/>
                    </a:solidFill>
                  </a:tcPr>
                </a:tc>
                <a:tc>
                  <a:txBody>
                    <a:bodyPr/>
                    <a:lstStyle/>
                    <a:p>
                      <a:pPr marL="0" indent="0">
                        <a:buNone/>
                      </a:pPr>
                      <a:r>
                        <a:rPr lang="en-US" sz="1400" dirty="0">
                          <a:solidFill>
                            <a:srgbClr val="333333"/>
                          </a:solidFill>
                          <a:latin typeface="Calibri" pitchFamily="34" charset="0"/>
                          <a:ea typeface="Calibri" pitchFamily="34" charset="-122"/>
                          <a:cs typeface="Calibri" pitchFamily="34" charset="-120"/>
                        </a:rPr>
                        <a:t>2,560</a:t>
                      </a:r>
                      <a:endParaRPr lang="en-US" sz="1400" dirty="0">
                        <a:latin typeface="Calibri" charset="0"/>
                        <a:ea typeface="Calibri" charset="0"/>
                        <a:cs typeface="Calibri" charset="0"/>
                      </a:endParaRPr>
                    </a:p>
                  </a:txBody>
                  <a:tcPr>
                    <a:lnL w="12700" cap="flat" cmpd="sng" algn="ctr">
                      <a:solidFill>
                        <a:srgbClr val="E2E7F5"/>
                      </a:solidFill>
                      <a:prstDash val="solid"/>
                      <a:round/>
                      <a:headEnd type="none" w="med" len="med"/>
                      <a:tailEnd type="none" w="med" len="med"/>
                    </a:lnL>
                    <a:lnR w="12700" cap="flat" cmpd="sng" algn="ctr">
                      <a:solidFill>
                        <a:srgbClr val="E2E7F5"/>
                      </a:solidFill>
                      <a:prstDash val="solid"/>
                      <a:round/>
                      <a:headEnd type="none" w="med" len="med"/>
                      <a:tailEnd type="none" w="med" len="med"/>
                    </a:lnR>
                    <a:lnT w="12700" cap="flat" cmpd="sng" algn="ctr">
                      <a:solidFill>
                        <a:srgbClr val="E2E7F5"/>
                      </a:solidFill>
                      <a:prstDash val="solid"/>
                      <a:round/>
                      <a:headEnd type="none" w="med" len="med"/>
                      <a:tailEnd type="none" w="med" len="med"/>
                    </a:lnT>
                    <a:lnB w="12700" cap="flat" cmpd="sng" algn="ctr">
                      <a:solidFill>
                        <a:srgbClr val="E2E7F5"/>
                      </a:solidFill>
                      <a:prstDash val="solid"/>
                      <a:round/>
                      <a:headEnd type="none" w="med" len="med"/>
                      <a:tailEnd type="none" w="med" len="med"/>
                    </a:lnB>
                    <a:solidFill>
                      <a:srgbClr val="FFFFFF"/>
                    </a:solidFill>
                  </a:tcPr>
                </a:tc>
                <a:tc>
                  <a:txBody>
                    <a:bodyPr/>
                    <a:lstStyle/>
                    <a:p>
                      <a:pPr marL="0" indent="0">
                        <a:buNone/>
                      </a:pPr>
                      <a:r>
                        <a:rPr lang="en-US" sz="1400" dirty="0">
                          <a:solidFill>
                            <a:srgbClr val="333333"/>
                          </a:solidFill>
                          <a:latin typeface="Calibri" pitchFamily="34" charset="0"/>
                          <a:ea typeface="Calibri" pitchFamily="34" charset="-122"/>
                          <a:cs typeface="Calibri" pitchFamily="34" charset="-120"/>
                        </a:rPr>
                        <a:t>90</a:t>
                      </a:r>
                      <a:endParaRPr lang="en-US" sz="1400" dirty="0">
                        <a:latin typeface="Calibri" charset="0"/>
                        <a:ea typeface="Calibri" charset="0"/>
                        <a:cs typeface="Calibri" charset="0"/>
                      </a:endParaRPr>
                    </a:p>
                  </a:txBody>
                  <a:tcPr>
                    <a:lnL w="12700" cap="flat" cmpd="sng" algn="ctr">
                      <a:solidFill>
                        <a:srgbClr val="E2E7F5"/>
                      </a:solidFill>
                      <a:prstDash val="solid"/>
                      <a:round/>
                      <a:headEnd type="none" w="med" len="med"/>
                      <a:tailEnd type="none" w="med" len="med"/>
                    </a:lnL>
                    <a:lnR w="12700" cap="flat" cmpd="sng" algn="ctr">
                      <a:solidFill>
                        <a:srgbClr val="E2E7F5"/>
                      </a:solidFill>
                      <a:prstDash val="solid"/>
                      <a:round/>
                      <a:headEnd type="none" w="med" len="med"/>
                      <a:tailEnd type="none" w="med" len="med"/>
                    </a:lnR>
                    <a:lnT w="12700" cap="flat" cmpd="sng" algn="ctr">
                      <a:solidFill>
                        <a:srgbClr val="E2E7F5"/>
                      </a:solidFill>
                      <a:prstDash val="solid"/>
                      <a:round/>
                      <a:headEnd type="none" w="med" len="med"/>
                      <a:tailEnd type="none" w="med" len="med"/>
                    </a:lnT>
                    <a:lnB w="12700" cap="flat" cmpd="sng" algn="ctr">
                      <a:solidFill>
                        <a:srgbClr val="E2E7F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94360">
                <a:tc>
                  <a:txBody>
                    <a:bodyPr/>
                    <a:lstStyle/>
                    <a:p>
                      <a:pPr marL="0" indent="0">
                        <a:buNone/>
                      </a:pPr>
                      <a:r>
                        <a:rPr lang="en-US" sz="1400" dirty="0">
                          <a:solidFill>
                            <a:srgbClr val="333333"/>
                          </a:solidFill>
                          <a:latin typeface="Calibri" pitchFamily="34" charset="0"/>
                          <a:ea typeface="Calibri" pitchFamily="34" charset="-122"/>
                          <a:cs typeface="Calibri" pitchFamily="34" charset="-120"/>
                        </a:rPr>
                        <a:t>Change in size</a:t>
                      </a:r>
                      <a:endParaRPr lang="en-US" sz="1400" dirty="0">
                        <a:latin typeface="Calibri" charset="0"/>
                        <a:ea typeface="Calibri" charset="0"/>
                        <a:cs typeface="Calibri" charset="0"/>
                      </a:endParaRPr>
                    </a:p>
                  </a:txBody>
                  <a:tcPr>
                    <a:lnL w="12700" cap="flat" cmpd="sng" algn="ctr">
                      <a:solidFill>
                        <a:srgbClr val="E2E7F5"/>
                      </a:solidFill>
                      <a:prstDash val="solid"/>
                      <a:round/>
                      <a:headEnd type="none" w="med" len="med"/>
                      <a:tailEnd type="none" w="med" len="med"/>
                    </a:lnL>
                    <a:lnR w="12700" cap="flat" cmpd="sng" algn="ctr">
                      <a:solidFill>
                        <a:srgbClr val="E2E7F5"/>
                      </a:solidFill>
                      <a:prstDash val="solid"/>
                      <a:round/>
                      <a:headEnd type="none" w="med" len="med"/>
                      <a:tailEnd type="none" w="med" len="med"/>
                    </a:lnR>
                    <a:lnT w="12700" cap="flat" cmpd="sng" algn="ctr">
                      <a:solidFill>
                        <a:srgbClr val="E2E7F5"/>
                      </a:solidFill>
                      <a:prstDash val="solid"/>
                      <a:round/>
                      <a:headEnd type="none" w="med" len="med"/>
                      <a:tailEnd type="none" w="med" len="med"/>
                    </a:lnT>
                    <a:lnB w="12700" cap="flat" cmpd="sng" algn="ctr">
                      <a:solidFill>
                        <a:srgbClr val="E2E7F5"/>
                      </a:solidFill>
                      <a:prstDash val="solid"/>
                      <a:round/>
                      <a:headEnd type="none" w="med" len="med"/>
                      <a:tailEnd type="none" w="med" len="med"/>
                    </a:lnB>
                    <a:solidFill>
                      <a:srgbClr val="FFFFFF"/>
                    </a:solidFill>
                  </a:tcPr>
                </a:tc>
                <a:tc>
                  <a:txBody>
                    <a:bodyPr/>
                    <a:lstStyle/>
                    <a:p>
                      <a:pPr marL="0" indent="0">
                        <a:buNone/>
                      </a:pPr>
                      <a:r>
                        <a:rPr lang="en-US" sz="1400" dirty="0">
                          <a:solidFill>
                            <a:srgbClr val="333333"/>
                          </a:solidFill>
                          <a:latin typeface="Calibri" pitchFamily="34" charset="0"/>
                          <a:ea typeface="Calibri" pitchFamily="34" charset="-122"/>
                          <a:cs typeface="Calibri" pitchFamily="34" charset="-120"/>
                        </a:rPr>
                        <a:t>+13,347 bytes</a:t>
                      </a:r>
                      <a:endParaRPr lang="en-US" sz="1400" dirty="0">
                        <a:latin typeface="Calibri" charset="0"/>
                        <a:ea typeface="Calibri" charset="0"/>
                        <a:cs typeface="Calibri" charset="0"/>
                      </a:endParaRPr>
                    </a:p>
                  </a:txBody>
                  <a:tcPr>
                    <a:lnL w="12700" cap="flat" cmpd="sng" algn="ctr">
                      <a:solidFill>
                        <a:srgbClr val="E2E7F5"/>
                      </a:solidFill>
                      <a:prstDash val="solid"/>
                      <a:round/>
                      <a:headEnd type="none" w="med" len="med"/>
                      <a:tailEnd type="none" w="med" len="med"/>
                    </a:lnL>
                    <a:lnR w="12700" cap="flat" cmpd="sng" algn="ctr">
                      <a:solidFill>
                        <a:srgbClr val="E2E7F5"/>
                      </a:solidFill>
                      <a:prstDash val="solid"/>
                      <a:round/>
                      <a:headEnd type="none" w="med" len="med"/>
                      <a:tailEnd type="none" w="med" len="med"/>
                    </a:lnR>
                    <a:lnT w="12700" cap="flat" cmpd="sng" algn="ctr">
                      <a:solidFill>
                        <a:srgbClr val="E2E7F5"/>
                      </a:solidFill>
                      <a:prstDash val="solid"/>
                      <a:round/>
                      <a:headEnd type="none" w="med" len="med"/>
                      <a:tailEnd type="none" w="med" len="med"/>
                    </a:lnT>
                    <a:lnB w="12700" cap="flat" cmpd="sng" algn="ctr">
                      <a:solidFill>
                        <a:srgbClr val="E2E7F5"/>
                      </a:solidFill>
                      <a:prstDash val="solid"/>
                      <a:round/>
                      <a:headEnd type="none" w="med" len="med"/>
                      <a:tailEnd type="none" w="med" len="med"/>
                    </a:lnB>
                    <a:solidFill>
                      <a:srgbClr val="FFFFFF"/>
                    </a:solidFill>
                  </a:tcPr>
                </a:tc>
                <a:tc>
                  <a:txBody>
                    <a:bodyPr/>
                    <a:lstStyle/>
                    <a:p>
                      <a:pPr marL="0" indent="0">
                        <a:buNone/>
                      </a:pPr>
                      <a:r>
                        <a:rPr lang="en-US" sz="1400" dirty="0">
                          <a:solidFill>
                            <a:srgbClr val="333333"/>
                          </a:solidFill>
                          <a:latin typeface="Calibri" pitchFamily="34" charset="0"/>
                          <a:ea typeface="Calibri" pitchFamily="34" charset="-122"/>
                          <a:cs typeface="Calibri" pitchFamily="34" charset="-120"/>
                        </a:rPr>
                        <a:t>0 bytes</a:t>
                      </a:r>
                      <a:endParaRPr lang="en-US" sz="1400" dirty="0">
                        <a:latin typeface="Calibri" charset="0"/>
                        <a:ea typeface="Calibri" charset="0"/>
                        <a:cs typeface="Calibri" charset="0"/>
                      </a:endParaRPr>
                    </a:p>
                  </a:txBody>
                  <a:tcPr>
                    <a:lnL w="12700" cap="flat" cmpd="sng" algn="ctr">
                      <a:solidFill>
                        <a:srgbClr val="E2E7F5"/>
                      </a:solidFill>
                      <a:prstDash val="solid"/>
                      <a:round/>
                      <a:headEnd type="none" w="med" len="med"/>
                      <a:tailEnd type="none" w="med" len="med"/>
                    </a:lnL>
                    <a:lnR w="12700" cap="flat" cmpd="sng" algn="ctr">
                      <a:solidFill>
                        <a:srgbClr val="E2E7F5"/>
                      </a:solidFill>
                      <a:prstDash val="solid"/>
                      <a:round/>
                      <a:headEnd type="none" w="med" len="med"/>
                      <a:tailEnd type="none" w="med" len="med"/>
                    </a:lnR>
                    <a:lnT w="12700" cap="flat" cmpd="sng" algn="ctr">
                      <a:solidFill>
                        <a:srgbClr val="E2E7F5"/>
                      </a:solidFill>
                      <a:prstDash val="solid"/>
                      <a:round/>
                      <a:headEnd type="none" w="med" len="med"/>
                      <a:tailEnd type="none" w="med" len="med"/>
                    </a:lnT>
                    <a:lnB w="12700" cap="flat" cmpd="sng" algn="ctr">
                      <a:solidFill>
                        <a:srgbClr val="E2E7F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graphicFrame>
        <p:nvGraphicFramePr>
          <p:cNvPr id="6" name="Chart 0"/>
          <p:cNvGraphicFramePr/>
          <p:nvPr/>
        </p:nvGraphicFramePr>
        <p:xfrm>
          <a:off x="7589520" y="2103120"/>
          <a:ext cx="3931920" cy="22860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3"/>
          <p:cNvSpPr txBox="1"/>
          <p:nvPr/>
        </p:nvSpPr>
        <p:spPr>
          <a:xfrm>
            <a:off x="640080" y="4754880"/>
            <a:ext cx="10881360" cy="822960"/>
          </a:xfrm>
          <a:prstGeom prst="rect">
            <a:avLst/>
          </a:prstGeom>
          <a:noFill/>
          <a:ln/>
        </p:spPr>
        <p:txBody>
          <a:bodyPr wrap="square" rtlCol="0" anchor="ctr"/>
          <a:lstStyle/>
          <a:p>
            <a:pPr marL="0" indent="0">
              <a:buNone/>
            </a:pPr>
            <a:r>
              <a:rPr lang="en-US" sz="1400" i="1" dirty="0">
                <a:solidFill>
                  <a:srgbClr val="444444"/>
                </a:solidFill>
                <a:latin typeface="Calibri" pitchFamily="34" charset="0"/>
                <a:ea typeface="Calibri" pitchFamily="34" charset="-122"/>
                <a:cs typeface="Calibri" pitchFamily="34" charset="-120"/>
              </a:rPr>
              <a:t>The difference reflects not only timing but the nature of the event: a death demands a rewrite of the facts, a film release only their addition.</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365760"/>
          </a:xfrm>
          <a:prstGeom prst="rect">
            <a:avLst/>
          </a:prstGeom>
          <a:noFill/>
          <a:ln/>
        </p:spPr>
        <p:txBody>
          <a:bodyPr wrap="square" rtlCol="0" anchor="ctr"/>
          <a:lstStyle/>
          <a:p>
            <a:pPr marL="0" indent="0">
              <a:buNone/>
            </a:pPr>
            <a:r>
              <a:rPr lang="en-US" sz="1300" b="1" kern="0" spc="200" dirty="0">
                <a:solidFill>
                  <a:srgbClr val="D64550"/>
                </a:solidFill>
                <a:latin typeface="Calibri" pitchFamily="34" charset="0"/>
                <a:ea typeface="Calibri" pitchFamily="34" charset="-122"/>
                <a:cs typeface="Calibri" pitchFamily="34" charset="-120"/>
              </a:rPr>
              <a:t>LIMITATIONS</a:t>
            </a:r>
            <a:endParaRPr lang="en-US" sz="1300" dirty="0"/>
          </a:p>
        </p:txBody>
      </p:sp>
      <p:sp>
        <p:nvSpPr>
          <p:cNvPr id="3" name="Text 1"/>
          <p:cNvSpPr txBox="1"/>
          <p:nvPr/>
        </p:nvSpPr>
        <p:spPr>
          <a:xfrm>
            <a:off x="640080" y="777240"/>
            <a:ext cx="10881360" cy="82296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Limitations</a:t>
            </a:r>
            <a:endParaRPr lang="en-US" sz="3200" dirty="0"/>
          </a:p>
        </p:txBody>
      </p:sp>
      <p:sp>
        <p:nvSpPr>
          <p:cNvPr id="5" name="Text 3"/>
          <p:cNvSpPr txBox="1"/>
          <p:nvPr/>
        </p:nvSpPr>
        <p:spPr>
          <a:xfrm>
            <a:off x="960120" y="1920240"/>
            <a:ext cx="10241280" cy="640080"/>
          </a:xfrm>
          <a:prstGeom prst="rect">
            <a:avLst/>
          </a:prstGeom>
          <a:noFill/>
          <a:ln/>
        </p:spPr>
        <p:txBody>
          <a:bodyPr wrap="square" rtlCol="0" anchor="ctr"/>
          <a:lstStyle/>
          <a:p>
            <a:pPr marL="0" indent="0">
              <a:buNone/>
            </a:pPr>
            <a:endParaRPr lang="en-US" sz="1500" dirty="0"/>
          </a:p>
        </p:txBody>
      </p:sp>
      <p:sp>
        <p:nvSpPr>
          <p:cNvPr id="6" name="Shape 4"/>
          <p:cNvSpPr/>
          <p:nvPr/>
        </p:nvSpPr>
        <p:spPr>
          <a:xfrm>
            <a:off x="640080" y="2999232"/>
            <a:ext cx="109728" cy="109728"/>
          </a:xfrm>
          <a:prstGeom prst="rect">
            <a:avLst/>
          </a:prstGeom>
          <a:solidFill>
            <a:srgbClr val="D64550"/>
          </a:solidFill>
          <a:ln/>
        </p:spPr>
      </p:sp>
      <p:sp>
        <p:nvSpPr>
          <p:cNvPr id="7" name="Text 5"/>
          <p:cNvSpPr txBox="1"/>
          <p:nvPr/>
        </p:nvSpPr>
        <p:spPr>
          <a:xfrm>
            <a:off x="960120" y="2834640"/>
            <a:ext cx="10241280" cy="640080"/>
          </a:xfrm>
          <a:prstGeom prst="rect">
            <a:avLst/>
          </a:prstGeom>
          <a:noFill/>
          <a:ln/>
        </p:spPr>
        <p:txBody>
          <a:bodyPr wrap="square" rtlCol="0" anchor="ctr"/>
          <a:lstStyle/>
          <a:p>
            <a:pPr marL="0" indent="0">
              <a:buNone/>
            </a:pPr>
            <a:r>
              <a:rPr lang="en-US" sz="1500" dirty="0">
                <a:solidFill>
                  <a:srgbClr val="333333"/>
                </a:solidFill>
                <a:latin typeface="Calibri" pitchFamily="34" charset="0"/>
                <a:ea typeface="Calibri" pitchFamily="34" charset="-122"/>
                <a:cs typeface="Calibri" pitchFamily="34" charset="-120"/>
              </a:rPr>
              <a:t>cummax understates size change near the article's historical maximum</a:t>
            </a:r>
            <a:endParaRPr lang="en-US" sz="1500" dirty="0"/>
          </a:p>
        </p:txBody>
      </p:sp>
      <p:sp>
        <p:nvSpPr>
          <p:cNvPr id="8" name="Shape 6"/>
          <p:cNvSpPr/>
          <p:nvPr/>
        </p:nvSpPr>
        <p:spPr>
          <a:xfrm>
            <a:off x="640080" y="3913632"/>
            <a:ext cx="109728" cy="109728"/>
          </a:xfrm>
          <a:prstGeom prst="rect">
            <a:avLst/>
          </a:prstGeom>
          <a:solidFill>
            <a:srgbClr val="D64550"/>
          </a:solidFill>
          <a:ln/>
        </p:spPr>
      </p:sp>
      <p:sp>
        <p:nvSpPr>
          <p:cNvPr id="9" name="Text 7"/>
          <p:cNvSpPr txBox="1"/>
          <p:nvPr/>
        </p:nvSpPr>
        <p:spPr>
          <a:xfrm>
            <a:off x="960120" y="3749040"/>
            <a:ext cx="10241280" cy="640080"/>
          </a:xfrm>
          <a:prstGeom prst="rect">
            <a:avLst/>
          </a:prstGeom>
          <a:noFill/>
          <a:ln/>
        </p:spPr>
        <p:txBody>
          <a:bodyPr wrap="square" rtlCol="0" anchor="ctr"/>
          <a:lstStyle/>
          <a:p>
            <a:pPr marL="0" indent="0">
              <a:buNone/>
            </a:pPr>
            <a:r>
              <a:rPr lang="en-US" sz="1500" dirty="0">
                <a:solidFill>
                  <a:srgbClr val="333333"/>
                </a:solidFill>
                <a:latin typeface="Calibri" pitchFamily="34" charset="0"/>
                <a:ea typeface="Calibri" pitchFamily="34" charset="-122"/>
                <a:cs typeface="Calibri" pitchFamily="34" charset="-120"/>
              </a:rPr>
              <a:t>The 2009 and  2026 comparison rests on only two cases, not a statistical sample</a:t>
            </a:r>
            <a:endParaRPr lang="en-US" sz="1500" dirty="0"/>
          </a:p>
        </p:txBody>
      </p:sp>
      <p:sp>
        <p:nvSpPr>
          <p:cNvPr id="10" name="Shape 8"/>
          <p:cNvSpPr/>
          <p:nvPr/>
        </p:nvSpPr>
        <p:spPr>
          <a:xfrm>
            <a:off x="640080" y="4828032"/>
            <a:ext cx="109728" cy="109728"/>
          </a:xfrm>
          <a:prstGeom prst="rect">
            <a:avLst/>
          </a:prstGeom>
          <a:solidFill>
            <a:srgbClr val="D64550"/>
          </a:solidFill>
          <a:ln/>
        </p:spPr>
      </p:sp>
      <p:sp>
        <p:nvSpPr>
          <p:cNvPr id="11" name="Text 9"/>
          <p:cNvSpPr txBox="1"/>
          <p:nvPr/>
        </p:nvSpPr>
        <p:spPr>
          <a:xfrm>
            <a:off x="960120" y="4663440"/>
            <a:ext cx="10241280" cy="640080"/>
          </a:xfrm>
          <a:prstGeom prst="rect">
            <a:avLst/>
          </a:prstGeom>
          <a:noFill/>
          <a:ln/>
        </p:spPr>
        <p:txBody>
          <a:bodyPr wrap="square" rtlCol="0" anchor="ctr"/>
          <a:lstStyle/>
          <a:p>
            <a:pPr marL="0" indent="0">
              <a:buNone/>
            </a:pPr>
            <a:r>
              <a:rPr lang="en-US" sz="1500" dirty="0">
                <a:solidFill>
                  <a:srgbClr val="333333"/>
                </a:solidFill>
                <a:latin typeface="Calibri" pitchFamily="34" charset="0"/>
                <a:ea typeface="Calibri" pitchFamily="34" charset="-122"/>
                <a:cs typeface="Calibri" pitchFamily="34" charset="-120"/>
              </a:rPr>
              <a:t>Some hourly files in the 2009 archive were unavailable on the server</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B47"/>
        </a:solidFill>
        <a:effectLst/>
      </p:bgPr>
    </p:bg>
    <p:spTree>
      <p:nvGrpSpPr>
        <p:cNvPr id="1" name=""/>
        <p:cNvGrpSpPr/>
        <p:nvPr/>
      </p:nvGrpSpPr>
      <p:grpSpPr>
        <a:xfrm>
          <a:off x="0" y="0"/>
          <a:ext cx="0" cy="0"/>
          <a:chOff x="0" y="0"/>
          <a:chExt cx="0" cy="0"/>
        </a:xfrm>
      </p:grpSpPr>
      <p:sp>
        <p:nvSpPr>
          <p:cNvPr id="2" name="Text 0"/>
          <p:cNvSpPr txBox="1"/>
          <p:nvPr/>
        </p:nvSpPr>
        <p:spPr>
          <a:xfrm>
            <a:off x="731520" y="640080"/>
            <a:ext cx="10698480" cy="731520"/>
          </a:xfrm>
          <a:prstGeom prst="rect">
            <a:avLst/>
          </a:prstGeom>
          <a:noFill/>
          <a:ln/>
        </p:spPr>
        <p:txBody>
          <a:bodyPr wrap="square" rtlCol="0" anchor="ctr"/>
          <a:lstStyle/>
          <a:p>
            <a:pPr marL="0" indent="0">
              <a:buNone/>
            </a:pPr>
            <a:r>
              <a:rPr lang="en-US" sz="3200" b="1" dirty="0">
                <a:solidFill>
                  <a:srgbClr val="D64550"/>
                </a:solidFill>
                <a:latin typeface="Cambria" pitchFamily="34" charset="0"/>
                <a:ea typeface="Cambria" pitchFamily="34" charset="-122"/>
                <a:cs typeface="Cambria" pitchFamily="34" charset="-120"/>
              </a:rPr>
              <a:t>Conclusion</a:t>
            </a:r>
            <a:endParaRPr lang="en-US" sz="3200" dirty="0"/>
          </a:p>
        </p:txBody>
      </p:sp>
      <p:sp>
        <p:nvSpPr>
          <p:cNvPr id="3" name="Text 1"/>
          <p:cNvSpPr txBox="1"/>
          <p:nvPr/>
        </p:nvSpPr>
        <p:spPr>
          <a:xfrm>
            <a:off x="731520" y="1554480"/>
            <a:ext cx="10698480" cy="73152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Views and edits fall. Article size does not.</a:t>
            </a:r>
            <a:endParaRPr lang="en-US" sz="2600" dirty="0"/>
          </a:p>
        </p:txBody>
      </p:sp>
      <p:sp>
        <p:nvSpPr>
          <p:cNvPr id="4" name="Text 2"/>
          <p:cNvSpPr txBox="1"/>
          <p:nvPr/>
        </p:nvSpPr>
        <p:spPr>
          <a:xfrm>
            <a:off x="731520" y="2560320"/>
            <a:ext cx="8686800" cy="1828800"/>
          </a:xfrm>
          <a:prstGeom prst="rect">
            <a:avLst/>
          </a:prstGeom>
          <a:noFill/>
          <a:ln/>
        </p:spPr>
        <p:txBody>
          <a:bodyPr wrap="square" rtlCol="0" anchor="ctr"/>
          <a:lstStyle/>
          <a:p>
            <a:pPr marL="0" indent="0">
              <a:lnSpc>
                <a:spcPct val="140000"/>
              </a:lnSpc>
              <a:buNone/>
            </a:pPr>
            <a:r>
              <a:rPr lang="en-US" sz="1700" dirty="0">
                <a:solidFill>
                  <a:srgbClr val="CADCFC"/>
                </a:solidFill>
                <a:latin typeface="Calibri" pitchFamily="34" charset="0"/>
                <a:ea typeface="Calibri" pitchFamily="34" charset="-122"/>
                <a:cs typeface="Calibri" pitchFamily="34" charset="-120"/>
              </a:rPr>
              <a:t>Culturomic analysis, originally built on Michel's book corpus, applies equally well to Wikipedia data, with the added benefit of separating consumption and production signals. Collective memory crystallizes not at the moment of attention, but at the moment of editing.</a:t>
            </a:r>
            <a:endParaRPr lang="en-US" sz="1700" dirty="0"/>
          </a:p>
        </p:txBody>
      </p:sp>
      <p:sp>
        <p:nvSpPr>
          <p:cNvPr id="5" name="Shape 3"/>
          <p:cNvSpPr/>
          <p:nvPr/>
        </p:nvSpPr>
        <p:spPr>
          <a:xfrm>
            <a:off x="731520" y="4846320"/>
            <a:ext cx="1463040" cy="54864"/>
          </a:xfrm>
          <a:prstGeom prst="rect">
            <a:avLst/>
          </a:prstGeom>
          <a:solidFill>
            <a:srgbClr val="D64550"/>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TotalTime>
  <Words>596</Words>
  <Application>Microsoft Macintosh PowerPoint</Application>
  <PresentationFormat>Widescreen</PresentationFormat>
  <Paragraphs>110</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Microsoft Office User</cp:lastModifiedBy>
  <cp:revision>3</cp:revision>
  <dcterms:created xsi:type="dcterms:W3CDTF">2026-09-10T12:21:24Z</dcterms:created>
  <dcterms:modified xsi:type="dcterms:W3CDTF">2026-09-10T12:39:30Z</dcterms:modified>
</cp:coreProperties>
</file>